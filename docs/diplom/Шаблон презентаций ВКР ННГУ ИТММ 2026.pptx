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13716000" cy="24387175"/>
  <p:embeddedFontLst>
    <p:embeddedFont>
      <p:font typeface="Inter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96C25B-01C9-48BC-ABF3-DC8B51C3CC33}">
  <a:tblStyle styleId="{A196C25B-01C9-48BC-ABF3-DC8B51C3CC3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7EF"/>
          </a:solidFill>
        </a:fill>
      </a:tcStyle>
    </a:wholeTbl>
    <a:band1H>
      <a:tcTxStyle/>
      <a:tcStyle>
        <a:fill>
          <a:solidFill>
            <a:srgbClr val="CAEFDF"/>
          </a:solidFill>
        </a:fill>
      </a:tcStyle>
    </a:band1H>
    <a:band2H>
      <a:tcTxStyle/>
    </a:band2H>
    <a:band1V>
      <a:tcTxStyle/>
      <a:tcStyle>
        <a:fill>
          <a:solidFill>
            <a:srgbClr val="CAEFDF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d0c8918d9_0_9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ed0c8918d9_0_9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d0c8918d9_0_6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ed0c8918d9_0_6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d0c8918d9_0_105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ed0c8918d9_0_105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d0c8918d9_0_113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ed0c8918d9_0_113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d0c8918d9_0_118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d0c8918d9_0_118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0c8918d9_0_123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d0c8918d9_0_123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d0c8918d9_0_97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d0c8918d9_0_97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d0c8918d9_0_101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d0c8918d9_0_101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d0c8918d9_0_128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d0c8918d9_0_128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9aabd41f22ef51_0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e9aabd41f22ef51_0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0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0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9" name="Google Shape;49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2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3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4:notes"/>
          <p:cNvSpPr/>
          <p:nvPr>
            <p:ph idx="2" type="sldImg"/>
          </p:nvPr>
        </p:nvSpPr>
        <p:spPr>
          <a:xfrm>
            <a:off x="195" y="0"/>
            <a:ext cx="2999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3" name="Google Shape;573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ed0c8918d9_0_92:notes"/>
          <p:cNvSpPr/>
          <p:nvPr>
            <p:ph idx="2" type="sldImg"/>
          </p:nvPr>
        </p:nvSpPr>
        <p:spPr>
          <a:xfrm>
            <a:off x="2287045" y="1829025"/>
            <a:ext cx="9143400" cy="914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ed0c8918d9_0_92:notes"/>
          <p:cNvSpPr txBox="1"/>
          <p:nvPr>
            <p:ph idx="1" type="body"/>
          </p:nvPr>
        </p:nvSpPr>
        <p:spPr>
          <a:xfrm>
            <a:off x="1371600" y="11583900"/>
            <a:ext cx="10972800" cy="109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д">
  <p:cSld name="DEFAUL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-пустой слайд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по умолчанию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" type="body"/>
          </p:nvPr>
        </p:nvSpPr>
        <p:spPr>
          <a:xfrm>
            <a:off x="372233" y="1600575"/>
            <a:ext cx="84831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Font typeface="Arial"/>
              <a:buChar char="•"/>
              <a:defRPr b="0" i="0" sz="21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•"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Char char="•"/>
              <a:defRPr b="0" i="0" sz="15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Arial"/>
              <a:buChar char="•"/>
              <a:defRPr b="0" i="0" sz="13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Arial"/>
              <a:buChar char="•"/>
              <a:defRPr b="0" i="0" sz="13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Arial"/>
              <a:buChar char="•"/>
              <a:defRPr b="0" i="0" sz="13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Arial"/>
              <a:buChar char="•"/>
              <a:defRPr b="0" i="0" sz="13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Arial"/>
              <a:buChar char="•"/>
              <a:defRPr b="0" i="0" sz="13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Arial"/>
              <a:buChar char="•"/>
              <a:defRPr b="0" i="0" sz="13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4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i="0" u="none" cap="none" strike="noStrik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5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i="0" u="none" cap="none" strike="noStrik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 title="фон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" y="0"/>
            <a:ext cx="9142810" cy="51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ный слайд">
  <p:cSld name="CUSTOM_5">
    <p:bg>
      <p:bgPr>
        <a:gradFill>
          <a:gsLst>
            <a:gs pos="0">
              <a:schemeClr val="dk1"/>
            </a:gs>
            <a:gs pos="63000">
              <a:schemeClr val="accent2"/>
            </a:gs>
            <a:gs pos="100000">
              <a:schemeClr val="accent2"/>
            </a:gs>
          </a:gsLst>
          <a:lin ang="601606" scaled="0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7" title="фон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2810" cy="51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7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i="0" u="none" cap="none" strike="noStrik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i="0" sz="3000" u="none" cap="none" strike="noStrik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b="1" sz="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72233" y="1600575"/>
            <a:ext cx="84831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DB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78">
          <p15:clr>
            <a:srgbClr val="F26B43"/>
          </p15:clr>
        </p15:guide>
        <p15:guide id="2" pos="54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40" Type="http://schemas.openxmlformats.org/officeDocument/2006/relationships/image" Target="../media/image66.png"/><Relationship Id="rId20" Type="http://schemas.openxmlformats.org/officeDocument/2006/relationships/image" Target="../media/image28.png"/><Relationship Id="rId42" Type="http://schemas.openxmlformats.org/officeDocument/2006/relationships/image" Target="../media/image48.png"/><Relationship Id="rId41" Type="http://schemas.openxmlformats.org/officeDocument/2006/relationships/image" Target="../media/image50.png"/><Relationship Id="rId22" Type="http://schemas.openxmlformats.org/officeDocument/2006/relationships/image" Target="../media/image29.png"/><Relationship Id="rId44" Type="http://schemas.openxmlformats.org/officeDocument/2006/relationships/image" Target="../media/image53.png"/><Relationship Id="rId21" Type="http://schemas.openxmlformats.org/officeDocument/2006/relationships/image" Target="../media/image46.png"/><Relationship Id="rId43" Type="http://schemas.openxmlformats.org/officeDocument/2006/relationships/image" Target="../media/image49.png"/><Relationship Id="rId24" Type="http://schemas.openxmlformats.org/officeDocument/2006/relationships/image" Target="../media/image31.png"/><Relationship Id="rId46" Type="http://schemas.openxmlformats.org/officeDocument/2006/relationships/image" Target="../media/image51.png"/><Relationship Id="rId23" Type="http://schemas.openxmlformats.org/officeDocument/2006/relationships/image" Target="../media/image30.png"/><Relationship Id="rId45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Relationship Id="rId26" Type="http://schemas.openxmlformats.org/officeDocument/2006/relationships/image" Target="../media/image34.png"/><Relationship Id="rId48" Type="http://schemas.openxmlformats.org/officeDocument/2006/relationships/image" Target="../media/image57.png"/><Relationship Id="rId25" Type="http://schemas.openxmlformats.org/officeDocument/2006/relationships/image" Target="../media/image37.png"/><Relationship Id="rId47" Type="http://schemas.openxmlformats.org/officeDocument/2006/relationships/image" Target="../media/image54.png"/><Relationship Id="rId28" Type="http://schemas.openxmlformats.org/officeDocument/2006/relationships/image" Target="../media/image32.png"/><Relationship Id="rId27" Type="http://schemas.openxmlformats.org/officeDocument/2006/relationships/image" Target="../media/image33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29" Type="http://schemas.openxmlformats.org/officeDocument/2006/relationships/image" Target="../media/image35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Relationship Id="rId31" Type="http://schemas.openxmlformats.org/officeDocument/2006/relationships/image" Target="../media/image38.png"/><Relationship Id="rId30" Type="http://schemas.openxmlformats.org/officeDocument/2006/relationships/image" Target="../media/image36.png"/><Relationship Id="rId11" Type="http://schemas.openxmlformats.org/officeDocument/2006/relationships/image" Target="../media/image18.png"/><Relationship Id="rId33" Type="http://schemas.openxmlformats.org/officeDocument/2006/relationships/image" Target="../media/image43.png"/><Relationship Id="rId10" Type="http://schemas.openxmlformats.org/officeDocument/2006/relationships/image" Target="../media/image21.png"/><Relationship Id="rId32" Type="http://schemas.openxmlformats.org/officeDocument/2006/relationships/image" Target="../media/image39.png"/><Relationship Id="rId13" Type="http://schemas.openxmlformats.org/officeDocument/2006/relationships/image" Target="../media/image19.png"/><Relationship Id="rId35" Type="http://schemas.openxmlformats.org/officeDocument/2006/relationships/image" Target="../media/image42.png"/><Relationship Id="rId12" Type="http://schemas.openxmlformats.org/officeDocument/2006/relationships/image" Target="../media/image20.png"/><Relationship Id="rId34" Type="http://schemas.openxmlformats.org/officeDocument/2006/relationships/image" Target="../media/image41.png"/><Relationship Id="rId15" Type="http://schemas.openxmlformats.org/officeDocument/2006/relationships/image" Target="../media/image26.png"/><Relationship Id="rId37" Type="http://schemas.openxmlformats.org/officeDocument/2006/relationships/image" Target="../media/image68.png"/><Relationship Id="rId14" Type="http://schemas.openxmlformats.org/officeDocument/2006/relationships/image" Target="../media/image23.png"/><Relationship Id="rId36" Type="http://schemas.openxmlformats.org/officeDocument/2006/relationships/image" Target="../media/image76.png"/><Relationship Id="rId17" Type="http://schemas.openxmlformats.org/officeDocument/2006/relationships/image" Target="../media/image22.png"/><Relationship Id="rId39" Type="http://schemas.openxmlformats.org/officeDocument/2006/relationships/image" Target="../media/image47.png"/><Relationship Id="rId16" Type="http://schemas.openxmlformats.org/officeDocument/2006/relationships/image" Target="../media/image25.png"/><Relationship Id="rId38" Type="http://schemas.openxmlformats.org/officeDocument/2006/relationships/image" Target="../media/image55.png"/><Relationship Id="rId19" Type="http://schemas.openxmlformats.org/officeDocument/2006/relationships/image" Target="../media/image27.png"/><Relationship Id="rId18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jpg"/><Relationship Id="rId4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Relationship Id="rId4" Type="http://schemas.openxmlformats.org/officeDocument/2006/relationships/image" Target="../media/image11.png"/><Relationship Id="rId5" Type="http://schemas.openxmlformats.org/officeDocument/2006/relationships/image" Target="../media/image61.png"/><Relationship Id="rId6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Relationship Id="rId4" Type="http://schemas.openxmlformats.org/officeDocument/2006/relationships/image" Target="../media/image60.png"/><Relationship Id="rId5" Type="http://schemas.openxmlformats.org/officeDocument/2006/relationships/image" Target="../media/image79.png"/><Relationship Id="rId6" Type="http://schemas.openxmlformats.org/officeDocument/2006/relationships/image" Target="../media/image11.png"/><Relationship Id="rId7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2.png"/></Relationships>
</file>

<file path=ppt/slides/_rels/slide25.xml.rels><?xml version="1.0" encoding="UTF-8" standalone="yes"?><Relationships xmlns="http://schemas.openxmlformats.org/package/2006/relationships"><Relationship Id="rId20" Type="http://schemas.openxmlformats.org/officeDocument/2006/relationships/image" Target="../media/image89.png"/><Relationship Id="rId22" Type="http://schemas.openxmlformats.org/officeDocument/2006/relationships/image" Target="../media/image97.png"/><Relationship Id="rId21" Type="http://schemas.openxmlformats.org/officeDocument/2006/relationships/image" Target="../media/image90.png"/><Relationship Id="rId24" Type="http://schemas.openxmlformats.org/officeDocument/2006/relationships/image" Target="../media/image92.png"/><Relationship Id="rId23" Type="http://schemas.openxmlformats.org/officeDocument/2006/relationships/image" Target="../media/image10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png"/><Relationship Id="rId4" Type="http://schemas.openxmlformats.org/officeDocument/2006/relationships/image" Target="../media/image98.png"/><Relationship Id="rId9" Type="http://schemas.openxmlformats.org/officeDocument/2006/relationships/image" Target="../media/image78.png"/><Relationship Id="rId25" Type="http://schemas.openxmlformats.org/officeDocument/2006/relationships/image" Target="../media/image105.png"/><Relationship Id="rId5" Type="http://schemas.openxmlformats.org/officeDocument/2006/relationships/image" Target="../media/image96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7.png"/><Relationship Id="rId11" Type="http://schemas.openxmlformats.org/officeDocument/2006/relationships/image" Target="../media/image85.png"/><Relationship Id="rId10" Type="http://schemas.openxmlformats.org/officeDocument/2006/relationships/image" Target="../media/image80.png"/><Relationship Id="rId13" Type="http://schemas.openxmlformats.org/officeDocument/2006/relationships/image" Target="../media/image81.png"/><Relationship Id="rId12" Type="http://schemas.openxmlformats.org/officeDocument/2006/relationships/image" Target="../media/image83.png"/><Relationship Id="rId15" Type="http://schemas.openxmlformats.org/officeDocument/2006/relationships/image" Target="../media/image84.png"/><Relationship Id="rId14" Type="http://schemas.openxmlformats.org/officeDocument/2006/relationships/image" Target="../media/image86.png"/><Relationship Id="rId17" Type="http://schemas.openxmlformats.org/officeDocument/2006/relationships/image" Target="../media/image88.png"/><Relationship Id="rId16" Type="http://schemas.openxmlformats.org/officeDocument/2006/relationships/image" Target="../media/image91.png"/><Relationship Id="rId19" Type="http://schemas.openxmlformats.org/officeDocument/2006/relationships/image" Target="../media/image94.png"/><Relationship Id="rId18" Type="http://schemas.openxmlformats.org/officeDocument/2006/relationships/image" Target="../media/image9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5.png"/><Relationship Id="rId4" Type="http://schemas.openxmlformats.org/officeDocument/2006/relationships/image" Target="../media/image95.png"/><Relationship Id="rId5" Type="http://schemas.openxmlformats.org/officeDocument/2006/relationships/image" Target="../media/image100.png"/><Relationship Id="rId6" Type="http://schemas.openxmlformats.org/officeDocument/2006/relationships/image" Target="../media/image104.png"/><Relationship Id="rId7" Type="http://schemas.openxmlformats.org/officeDocument/2006/relationships/image" Target="../media/image103.png"/><Relationship Id="rId8" Type="http://schemas.openxmlformats.org/officeDocument/2006/relationships/image" Target="../media/image10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081" y="2711535"/>
            <a:ext cx="8345073" cy="3675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348996" y="4474847"/>
            <a:ext cx="15726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100">
                <a:solidFill>
                  <a:srgbClr val="FFFFFF"/>
                </a:solidFill>
              </a:rPr>
              <a:t>01.06.</a:t>
            </a:r>
            <a:r>
              <a:rPr i="0" lang="en-US" sz="1100" u="none" cap="none" strike="noStrike">
                <a:solidFill>
                  <a:srgbClr val="FFFFFF"/>
                </a:solidFill>
              </a:rPr>
              <a:t>2026 </a:t>
            </a:r>
            <a:endParaRPr i="0" sz="1100" u="none" cap="none" strike="noStrike">
              <a:solidFill>
                <a:srgbClr val="00348A"/>
              </a:solidFill>
            </a:endParaRPr>
          </a:p>
        </p:txBody>
      </p:sp>
      <p:sp>
        <p:nvSpPr>
          <p:cNvPr id="33" name="Google Shape;33;p8"/>
          <p:cNvSpPr/>
          <p:nvPr/>
        </p:nvSpPr>
        <p:spPr>
          <a:xfrm>
            <a:off x="348995" y="3068138"/>
            <a:ext cx="3354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200">
                <a:solidFill>
                  <a:srgbClr val="FFFFFF"/>
                </a:solidFill>
              </a:rPr>
              <a:t>Выполнил:</a:t>
            </a:r>
            <a:br>
              <a:rPr lang="en-US" sz="1200">
                <a:solidFill>
                  <a:srgbClr val="FFFFFF"/>
                </a:solidFill>
              </a:rPr>
            </a:br>
            <a:r>
              <a:rPr lang="en-US" sz="1200">
                <a:solidFill>
                  <a:srgbClr val="FFFFFF"/>
                </a:solidFill>
              </a:rPr>
              <a:t>студент гр. 38210123 И.И.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Иванов</a:t>
            </a:r>
            <a:endParaRPr b="0" i="0" sz="1200" u="none" cap="none" strike="noStrike">
              <a:solidFill>
                <a:srgbClr val="0034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"/>
          <p:cNvSpPr/>
          <p:nvPr/>
        </p:nvSpPr>
        <p:spPr>
          <a:xfrm>
            <a:off x="341707" y="1744697"/>
            <a:ext cx="74052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lang="en-US" sz="2100">
                <a:solidFill>
                  <a:srgbClr val="FFFFFF"/>
                </a:solidFill>
              </a:rPr>
              <a:t>Обнаружение дипфейков в видеопотоке на основе анализа артефактов временной когерентности 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35" name="Google Shape;35;p8"/>
          <p:cNvSpPr/>
          <p:nvPr/>
        </p:nvSpPr>
        <p:spPr>
          <a:xfrm>
            <a:off x="341708" y="1268138"/>
            <a:ext cx="58458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lang="en-US" sz="1600">
                <a:solidFill>
                  <a:srgbClr val="FFFFFF"/>
                </a:solidFill>
              </a:rPr>
              <a:t>Выпускная квалификационная работа бакалавра</a:t>
            </a:r>
            <a:endParaRPr b="0" i="0" sz="1600" u="none" cap="none" strike="noStrike">
              <a:solidFill>
                <a:srgbClr val="0034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340896" y="3659588"/>
            <a:ext cx="3482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300">
                <a:solidFill>
                  <a:srgbClr val="FFFFFF"/>
                </a:solidFill>
              </a:rPr>
              <a:t>Научный руководитель:</a:t>
            </a:r>
            <a:br>
              <a:rPr lang="en-US" sz="1300">
                <a:solidFill>
                  <a:srgbClr val="FFFFFF"/>
                </a:solidFill>
              </a:rPr>
            </a:br>
            <a:r>
              <a:rPr lang="en-US" sz="1300">
                <a:solidFill>
                  <a:srgbClr val="FFFFFF"/>
                </a:solidFill>
              </a:rPr>
              <a:t>д.ф.- м.н. П.П. Петров</a:t>
            </a:r>
            <a:endParaRPr b="0" i="0" sz="1300" u="none" cap="none" strike="noStrike">
              <a:solidFill>
                <a:srgbClr val="0034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8"/>
          <p:cNvSpPr/>
          <p:nvPr/>
        </p:nvSpPr>
        <p:spPr>
          <a:xfrm>
            <a:off x="4223188" y="3068138"/>
            <a:ext cx="46278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lang="en-US" sz="1200">
                <a:solidFill>
                  <a:srgbClr val="FFFFFF"/>
                </a:solidFill>
              </a:rPr>
              <a:t>Направление подготовки:</a:t>
            </a:r>
            <a:br>
              <a:rPr lang="en-US" sz="1200">
                <a:solidFill>
                  <a:srgbClr val="FFFFFF"/>
                </a:solidFill>
              </a:rPr>
            </a:br>
            <a:r>
              <a:rPr lang="en-US" sz="1200">
                <a:solidFill>
                  <a:srgbClr val="FFFFFF"/>
                </a:solidFill>
              </a:rPr>
              <a:t>«Фундаментальная информатика и искусственный интеллект»</a:t>
            </a:r>
            <a:endParaRPr b="0" i="0" sz="1200" u="none" cap="none" strike="noStrike">
              <a:solidFill>
                <a:srgbClr val="0034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8"/>
          <p:cNvSpPr/>
          <p:nvPr/>
        </p:nvSpPr>
        <p:spPr>
          <a:xfrm>
            <a:off x="4223188" y="3699356"/>
            <a:ext cx="4264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lang="en-US" sz="1200">
                <a:solidFill>
                  <a:srgbClr val="FFFFFF"/>
                </a:solidFill>
              </a:rPr>
              <a:t>Программа:</a:t>
            </a:r>
            <a:br>
              <a:rPr lang="en-US" sz="1200">
                <a:solidFill>
                  <a:srgbClr val="FFFFFF"/>
                </a:solidFill>
              </a:rPr>
            </a:br>
            <a:r>
              <a:rPr lang="en-US" sz="1200">
                <a:solidFill>
                  <a:srgbClr val="FFFFFF"/>
                </a:solidFill>
              </a:rPr>
              <a:t>«Искусственный интеллект»</a:t>
            </a:r>
            <a:endParaRPr b="0" i="0" sz="1200" u="none" cap="none" strike="noStrike">
              <a:solidFill>
                <a:srgbClr val="0034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Введение</a:t>
            </a:r>
            <a:endParaRPr b="1"/>
          </a:p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372233" y="1600575"/>
            <a:ext cx="8483100" cy="3090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Цели работы</a:t>
            </a:r>
            <a:endParaRPr b="1"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72233" y="1600575"/>
            <a:ext cx="8483100" cy="3090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Описание модели</a:t>
            </a:r>
            <a:endParaRPr b="1"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72233" y="1600575"/>
            <a:ext cx="8483100" cy="3090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Описание метода</a:t>
            </a:r>
            <a:endParaRPr b="1"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372233" y="1600575"/>
            <a:ext cx="8483100" cy="3090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Эксперимент</a:t>
            </a:r>
            <a:endParaRPr b="1"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372233" y="1600575"/>
            <a:ext cx="8483100" cy="3090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Выводы</a:t>
            </a:r>
            <a:endParaRPr b="1"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372233" y="1600575"/>
            <a:ext cx="8483100" cy="3090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Литература</a:t>
            </a:r>
            <a:endParaRPr b="1"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372233" y="1600575"/>
            <a:ext cx="8483100" cy="3090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454760" y="855562"/>
            <a:ext cx="62484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738184" y="2376488"/>
            <a:ext cx="44052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51500" y="1809725"/>
            <a:ext cx="4171500" cy="2700600"/>
          </a:xfrm>
          <a:prstGeom prst="roundRect">
            <a:avLst>
              <a:gd fmla="val 3205" name="adj"/>
            </a:avLst>
          </a:prstGeom>
          <a:solidFill>
            <a:srgbClr val="F1F7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176" y="1809725"/>
            <a:ext cx="2953923" cy="27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Рекомендации по оформлению</a:t>
            </a:r>
            <a:endParaRPr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-50" y="0"/>
            <a:ext cx="9144000" cy="185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458727" y="4240284"/>
            <a:ext cx="69285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Данные графические элементы можно использовать как небольшие акцентные изображения или масштабировать (растягивать) и применять в качестве части фонового оформления.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504822" y="1828800"/>
            <a:ext cx="204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91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3238483" y="1819275"/>
            <a:ext cx="204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91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6119781" y="1819275"/>
            <a:ext cx="204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91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96" y="1978936"/>
            <a:ext cx="1871185" cy="187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5194" y="2005234"/>
            <a:ext cx="1999740" cy="1771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0822" y="1917138"/>
            <a:ext cx="2356836" cy="194736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Графические элементы</a:t>
            </a:r>
            <a:endParaRPr b="1"/>
          </a:p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>
            <a:off x="504822" y="1595438"/>
            <a:ext cx="204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2938447" y="1595438"/>
            <a:ext cx="204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5995956" y="1595438"/>
            <a:ext cx="2049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49598" y="4024313"/>
            <a:ext cx="6773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Данные графические элементы можно использовать как небольшие акцентные изображения или масштабировать (растягивать) и применять в качестве части фонового оформления.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609" y="1729038"/>
            <a:ext cx="1999740" cy="1999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6404" y="1769723"/>
            <a:ext cx="2323507" cy="190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6637" y="1769723"/>
            <a:ext cx="2413971" cy="199497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Графические элементы</a:t>
            </a:r>
            <a:endParaRPr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/>
          <p:nvPr/>
        </p:nvSpPr>
        <p:spPr>
          <a:xfrm>
            <a:off x="5862607" y="1971675"/>
            <a:ext cx="23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7419936" y="1978819"/>
            <a:ext cx="4476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5649031" y="1828800"/>
            <a:ext cx="2953119" cy="438150"/>
            <a:chOff x="15064083" y="4876800"/>
            <a:chExt cx="7874984" cy="1168400"/>
          </a:xfrm>
        </p:grpSpPr>
        <p:pic>
          <p:nvPicPr>
            <p:cNvPr descr=" " id="147" name="Google Shape;14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064083" y="4876800"/>
              <a:ext cx="7874984" cy="116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21"/>
            <p:cNvSpPr/>
            <p:nvPr/>
          </p:nvSpPr>
          <p:spPr>
            <a:xfrm>
              <a:off x="15635654" y="5257800"/>
              <a:ext cx="3827412" cy="524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120 бюджетных мест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 " id="149" name="Google Shape;14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648760" y="5264150"/>
              <a:ext cx="280626" cy="37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21"/>
            <p:cNvSpPr/>
            <p:nvPr/>
          </p:nvSpPr>
          <p:spPr>
            <a:xfrm>
              <a:off x="20068508" y="5276850"/>
              <a:ext cx="1033062" cy="486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D99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14D99F"/>
                  </a:solidFill>
                  <a:latin typeface="Arial"/>
                  <a:ea typeface="Arial"/>
                  <a:cs typeface="Arial"/>
                  <a:sym typeface="Arial"/>
                </a:rPr>
                <a:t>20%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21"/>
          <p:cNvSpPr/>
          <p:nvPr/>
        </p:nvSpPr>
        <p:spPr>
          <a:xfrm>
            <a:off x="5862607" y="2490788"/>
            <a:ext cx="23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7419936" y="2497931"/>
            <a:ext cx="4476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1"/>
          <p:cNvGrpSpPr/>
          <p:nvPr/>
        </p:nvGrpSpPr>
        <p:grpSpPr>
          <a:xfrm>
            <a:off x="5649031" y="2347913"/>
            <a:ext cx="2953119" cy="438150"/>
            <a:chOff x="15064083" y="6261100"/>
            <a:chExt cx="7874984" cy="1168400"/>
          </a:xfrm>
        </p:grpSpPr>
        <p:pic>
          <p:nvPicPr>
            <p:cNvPr descr=" " id="154" name="Google Shape;154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064083" y="6261100"/>
              <a:ext cx="7874984" cy="116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21"/>
            <p:cNvSpPr/>
            <p:nvPr/>
          </p:nvSpPr>
          <p:spPr>
            <a:xfrm>
              <a:off x="15635654" y="6642100"/>
              <a:ext cx="3827412" cy="5249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378D5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0378D5"/>
                  </a:solidFill>
                  <a:latin typeface="Arial"/>
                  <a:ea typeface="Arial"/>
                  <a:cs typeface="Arial"/>
                  <a:sym typeface="Arial"/>
                </a:rPr>
                <a:t>120 бюджетных мест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 " id="156" name="Google Shape;15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648760" y="6648450"/>
              <a:ext cx="280626" cy="37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21"/>
            <p:cNvSpPr/>
            <p:nvPr/>
          </p:nvSpPr>
          <p:spPr>
            <a:xfrm>
              <a:off x="20068508" y="6661150"/>
              <a:ext cx="1033062" cy="486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D99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14D99F"/>
                  </a:solidFill>
                  <a:latin typeface="Arial"/>
                  <a:ea typeface="Arial"/>
                  <a:cs typeface="Arial"/>
                  <a:sym typeface="Arial"/>
                </a:rPr>
                <a:t>20%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 " id="158" name="Google Shape;15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76906" y="3081338"/>
            <a:ext cx="833433" cy="8333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9" name="Google Shape;15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86563" y="3081338"/>
            <a:ext cx="833433" cy="8333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21"/>
          <p:cNvGrpSpPr/>
          <p:nvPr/>
        </p:nvGrpSpPr>
        <p:grpSpPr>
          <a:xfrm>
            <a:off x="5649031" y="2871788"/>
            <a:ext cx="2953119" cy="1252538"/>
            <a:chOff x="15064083" y="7658100"/>
            <a:chExt cx="7874984" cy="3340100"/>
          </a:xfrm>
        </p:grpSpPr>
        <p:pic>
          <p:nvPicPr>
            <p:cNvPr descr=" " id="161" name="Google Shape;161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064083" y="7658100"/>
              <a:ext cx="7874984" cy="3340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2" name="Google Shape;162;p21"/>
            <p:cNvGrpSpPr/>
            <p:nvPr/>
          </p:nvGrpSpPr>
          <p:grpSpPr>
            <a:xfrm>
              <a:off x="15940492" y="8218151"/>
              <a:ext cx="2222778" cy="2222500"/>
              <a:chOff x="15940492" y="8218151"/>
              <a:chExt cx="2222778" cy="2222500"/>
            </a:xfrm>
          </p:grpSpPr>
          <p:pic>
            <p:nvPicPr>
              <p:cNvPr descr=" " id="163" name="Google Shape;163;p2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5953194" y="8243069"/>
                <a:ext cx="1263957" cy="21709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 " id="164" name="Google Shape;164;p2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5940492" y="8218151"/>
                <a:ext cx="2222778" cy="222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" name="Google Shape;165;p21"/>
              <p:cNvSpPr/>
              <p:nvPr/>
            </p:nvSpPr>
            <p:spPr>
              <a:xfrm>
                <a:off x="16387164" y="9053492"/>
                <a:ext cx="1329433" cy="694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79%</a:t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" name="Google Shape;166;p21"/>
            <p:cNvGrpSpPr/>
            <p:nvPr/>
          </p:nvGrpSpPr>
          <p:grpSpPr>
            <a:xfrm>
              <a:off x="18912664" y="8210550"/>
              <a:ext cx="2222778" cy="2222500"/>
              <a:chOff x="18912664" y="8210550"/>
              <a:chExt cx="2222778" cy="2222500"/>
            </a:xfrm>
          </p:grpSpPr>
          <p:pic>
            <p:nvPicPr>
              <p:cNvPr descr=" " id="167" name="Google Shape;167;p2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8912664" y="8243069"/>
                <a:ext cx="1263957" cy="21709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 " id="168" name="Google Shape;168;p2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18912664" y="8210550"/>
                <a:ext cx="2222778" cy="222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21"/>
              <p:cNvSpPr/>
              <p:nvPr/>
            </p:nvSpPr>
            <p:spPr>
              <a:xfrm>
                <a:off x="19429195" y="9055100"/>
                <a:ext cx="1329433" cy="694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90%</a:t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descr=" " id="170" name="Google Shape;170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4822" y="1828800"/>
            <a:ext cx="4829150" cy="301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/>
          <p:nvPr/>
        </p:nvSpPr>
        <p:spPr>
          <a:xfrm>
            <a:off x="695321" y="1938338"/>
            <a:ext cx="3962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72" name="Google Shape;172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3415" y="2003180"/>
            <a:ext cx="595309" cy="502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73998" y="1991274"/>
            <a:ext cx="500060" cy="549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21"/>
          <p:cNvGrpSpPr/>
          <p:nvPr/>
        </p:nvGrpSpPr>
        <p:grpSpPr>
          <a:xfrm>
            <a:off x="2365975" y="2000799"/>
            <a:ext cx="555086" cy="534405"/>
            <a:chOff x="6309266" y="5335463"/>
            <a:chExt cx="1480230" cy="1425080"/>
          </a:xfrm>
        </p:grpSpPr>
        <p:pic>
          <p:nvPicPr>
            <p:cNvPr descr=" " id="175" name="Google Shape;175;p2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006687" y="6286128"/>
              <a:ext cx="83007" cy="2084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698797" y="6444779"/>
              <a:ext cx="702829" cy="3157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7" name="Google Shape;177;p2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441691" y="5569173"/>
              <a:ext cx="347805" cy="457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8" name="Google Shape;178;p2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309266" y="5577508"/>
              <a:ext cx="347805" cy="457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9" name="Google Shape;179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583268" y="5335463"/>
              <a:ext cx="929870" cy="98402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 " id="180" name="Google Shape;180;p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224196" y="1938338"/>
            <a:ext cx="638172" cy="643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1" name="Google Shape;181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305111" y="2020137"/>
            <a:ext cx="476331" cy="4803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2" name="Google Shape;182;p2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181453" y="2022230"/>
            <a:ext cx="476247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3" name="Google Shape;183;p2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206056" y="2046843"/>
            <a:ext cx="427032" cy="427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4" name="Google Shape;184;p2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330049" y="3270321"/>
            <a:ext cx="245491" cy="336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5" name="Google Shape;185;p2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686156" y="3200400"/>
            <a:ext cx="476247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6" name="Google Shape;186;p2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748859" y="3263112"/>
            <a:ext cx="350833" cy="35078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695321" y="3786188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21"/>
          <p:cNvGrpSpPr/>
          <p:nvPr/>
        </p:nvGrpSpPr>
        <p:grpSpPr>
          <a:xfrm>
            <a:off x="695412" y="3786188"/>
            <a:ext cx="381048" cy="381000"/>
            <a:chOff x="1854432" y="10096500"/>
            <a:chExt cx="1016127" cy="1016000"/>
          </a:xfrm>
        </p:grpSpPr>
        <p:sp>
          <p:nvSpPr>
            <p:cNvPr id="189" name="Google Shape;189;p21"/>
            <p:cNvSpPr/>
            <p:nvPr/>
          </p:nvSpPr>
          <p:spPr>
            <a:xfrm>
              <a:off x="1854432" y="10096500"/>
              <a:ext cx="1016127" cy="1016000"/>
            </a:xfrm>
            <a:prstGeom prst="ellipse">
              <a:avLst/>
            </a:prstGeom>
            <a:solidFill>
              <a:srgbClr val="14D99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2138101" y="102997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52A8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1E52A8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21"/>
          <p:cNvGrpSpPr/>
          <p:nvPr/>
        </p:nvGrpSpPr>
        <p:grpSpPr>
          <a:xfrm>
            <a:off x="1171722" y="3786188"/>
            <a:ext cx="381048" cy="381000"/>
            <a:chOff x="3124591" y="10096500"/>
            <a:chExt cx="1016127" cy="1016000"/>
          </a:xfrm>
        </p:grpSpPr>
        <p:sp>
          <p:nvSpPr>
            <p:cNvPr id="192" name="Google Shape;192;p21"/>
            <p:cNvSpPr/>
            <p:nvPr/>
          </p:nvSpPr>
          <p:spPr>
            <a:xfrm>
              <a:off x="3124591" y="10096500"/>
              <a:ext cx="1016127" cy="1016000"/>
            </a:xfrm>
            <a:prstGeom prst="ellipse">
              <a:avLst/>
            </a:prstGeom>
            <a:solidFill>
              <a:srgbClr val="14D99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3408259" y="102997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52A8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1E52A8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21"/>
          <p:cNvGrpSpPr/>
          <p:nvPr/>
        </p:nvGrpSpPr>
        <p:grpSpPr>
          <a:xfrm>
            <a:off x="1648031" y="3786188"/>
            <a:ext cx="381048" cy="381000"/>
            <a:chOff x="4394749" y="10096500"/>
            <a:chExt cx="1016127" cy="1016000"/>
          </a:xfrm>
        </p:grpSpPr>
        <p:sp>
          <p:nvSpPr>
            <p:cNvPr id="195" name="Google Shape;195;p21"/>
            <p:cNvSpPr/>
            <p:nvPr/>
          </p:nvSpPr>
          <p:spPr>
            <a:xfrm>
              <a:off x="4394749" y="10096500"/>
              <a:ext cx="1016127" cy="1016000"/>
            </a:xfrm>
            <a:prstGeom prst="ellipse">
              <a:avLst/>
            </a:prstGeom>
            <a:solidFill>
              <a:srgbClr val="14D99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4678418" y="102997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52A8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1E52A8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21"/>
          <p:cNvSpPr/>
          <p:nvPr/>
        </p:nvSpPr>
        <p:spPr>
          <a:xfrm>
            <a:off x="2124064" y="3786188"/>
            <a:ext cx="381000" cy="381000"/>
          </a:xfrm>
          <a:prstGeom prst="ellipse">
            <a:avLst/>
          </a:prstGeom>
          <a:solidFill>
            <a:srgbClr val="14D99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2230426" y="3862388"/>
            <a:ext cx="173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2A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E52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" name="Google Shape;199;p21"/>
          <p:cNvGrpSpPr/>
          <p:nvPr/>
        </p:nvGrpSpPr>
        <p:grpSpPr>
          <a:xfrm>
            <a:off x="2600650" y="3786188"/>
            <a:ext cx="381048" cy="381000"/>
            <a:chOff x="6935067" y="10096500"/>
            <a:chExt cx="1016127" cy="1016000"/>
          </a:xfrm>
        </p:grpSpPr>
        <p:sp>
          <p:nvSpPr>
            <p:cNvPr id="200" name="Google Shape;200;p21"/>
            <p:cNvSpPr/>
            <p:nvPr/>
          </p:nvSpPr>
          <p:spPr>
            <a:xfrm>
              <a:off x="6935067" y="10096500"/>
              <a:ext cx="1016127" cy="1016000"/>
            </a:xfrm>
            <a:prstGeom prst="ellipse">
              <a:avLst/>
            </a:prstGeom>
            <a:solidFill>
              <a:srgbClr val="14D99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1"/>
            <p:cNvSpPr/>
            <p:nvPr/>
          </p:nvSpPr>
          <p:spPr>
            <a:xfrm>
              <a:off x="7218736" y="102997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52A8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1E52A8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21"/>
          <p:cNvGrpSpPr/>
          <p:nvPr/>
        </p:nvGrpSpPr>
        <p:grpSpPr>
          <a:xfrm>
            <a:off x="3076960" y="3786188"/>
            <a:ext cx="381048" cy="381000"/>
            <a:chOff x="8205226" y="10096500"/>
            <a:chExt cx="1016127" cy="1016000"/>
          </a:xfrm>
        </p:grpSpPr>
        <p:sp>
          <p:nvSpPr>
            <p:cNvPr id="203" name="Google Shape;203;p21"/>
            <p:cNvSpPr/>
            <p:nvPr/>
          </p:nvSpPr>
          <p:spPr>
            <a:xfrm>
              <a:off x="8205226" y="10096500"/>
              <a:ext cx="1016127" cy="1016000"/>
            </a:xfrm>
            <a:prstGeom prst="ellipse">
              <a:avLst/>
            </a:prstGeom>
            <a:solidFill>
              <a:srgbClr val="14D99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8488894" y="102997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52A8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1E52A8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3553269" y="3786188"/>
            <a:ext cx="381048" cy="381000"/>
            <a:chOff x="9475384" y="10096500"/>
            <a:chExt cx="1016127" cy="1016000"/>
          </a:xfrm>
        </p:grpSpPr>
        <p:sp>
          <p:nvSpPr>
            <p:cNvPr id="206" name="Google Shape;206;p21"/>
            <p:cNvSpPr/>
            <p:nvPr/>
          </p:nvSpPr>
          <p:spPr>
            <a:xfrm>
              <a:off x="9475384" y="10096500"/>
              <a:ext cx="1016127" cy="1016000"/>
            </a:xfrm>
            <a:prstGeom prst="ellipse">
              <a:avLst/>
            </a:prstGeom>
            <a:solidFill>
              <a:srgbClr val="14D99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9759053" y="102997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52A8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1E52A8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4029579" y="3786188"/>
            <a:ext cx="381048" cy="381000"/>
            <a:chOff x="10745543" y="10096500"/>
            <a:chExt cx="1016127" cy="1016000"/>
          </a:xfrm>
        </p:grpSpPr>
        <p:sp>
          <p:nvSpPr>
            <p:cNvPr id="209" name="Google Shape;209;p21"/>
            <p:cNvSpPr/>
            <p:nvPr/>
          </p:nvSpPr>
          <p:spPr>
            <a:xfrm>
              <a:off x="10745543" y="10096500"/>
              <a:ext cx="1016127" cy="1016000"/>
            </a:xfrm>
            <a:prstGeom prst="ellipse">
              <a:avLst/>
            </a:prstGeom>
            <a:solidFill>
              <a:srgbClr val="14D99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11029212" y="102997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52A8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1E52A8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21"/>
          <p:cNvGrpSpPr/>
          <p:nvPr/>
        </p:nvGrpSpPr>
        <p:grpSpPr>
          <a:xfrm>
            <a:off x="4505888" y="3786188"/>
            <a:ext cx="381048" cy="381000"/>
            <a:chOff x="12015702" y="10096500"/>
            <a:chExt cx="1016127" cy="1016000"/>
          </a:xfrm>
        </p:grpSpPr>
        <p:sp>
          <p:nvSpPr>
            <p:cNvPr id="212" name="Google Shape;212;p21"/>
            <p:cNvSpPr/>
            <p:nvPr/>
          </p:nvSpPr>
          <p:spPr>
            <a:xfrm>
              <a:off x="12015702" y="10096500"/>
              <a:ext cx="1016127" cy="1016000"/>
            </a:xfrm>
            <a:prstGeom prst="ellipse">
              <a:avLst/>
            </a:prstGeom>
            <a:solidFill>
              <a:srgbClr val="14D99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12299371" y="102997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E52A8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1E52A8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21"/>
          <p:cNvSpPr/>
          <p:nvPr/>
        </p:nvSpPr>
        <p:spPr>
          <a:xfrm>
            <a:off x="761996" y="3319463"/>
            <a:ext cx="2247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p21"/>
          <p:cNvGrpSpPr/>
          <p:nvPr/>
        </p:nvGrpSpPr>
        <p:grpSpPr>
          <a:xfrm>
            <a:off x="762095" y="3343275"/>
            <a:ext cx="190524" cy="190500"/>
            <a:chOff x="2032254" y="8915400"/>
            <a:chExt cx="508063" cy="508000"/>
          </a:xfrm>
        </p:grpSpPr>
        <p:sp>
          <p:nvSpPr>
            <p:cNvPr id="216" name="Google Shape;216;p21"/>
            <p:cNvSpPr/>
            <p:nvPr/>
          </p:nvSpPr>
          <p:spPr>
            <a:xfrm>
              <a:off x="2032254" y="8915400"/>
              <a:ext cx="508063" cy="508000"/>
            </a:xfrm>
            <a:prstGeom prst="roundRect">
              <a:avLst>
                <a:gd fmla="val 100800" name="adj"/>
              </a:avLst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7" name="Google Shape;217;p2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2146568" y="9029700"/>
              <a:ext cx="292137" cy="292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p21"/>
          <p:cNvGrpSpPr/>
          <p:nvPr/>
        </p:nvGrpSpPr>
        <p:grpSpPr>
          <a:xfrm>
            <a:off x="1176485" y="3343275"/>
            <a:ext cx="190524" cy="190500"/>
            <a:chOff x="3137292" y="8915400"/>
            <a:chExt cx="508063" cy="508000"/>
          </a:xfrm>
        </p:grpSpPr>
        <p:sp>
          <p:nvSpPr>
            <p:cNvPr id="219" name="Google Shape;219;p21"/>
            <p:cNvSpPr/>
            <p:nvPr/>
          </p:nvSpPr>
          <p:spPr>
            <a:xfrm>
              <a:off x="3137292" y="8915400"/>
              <a:ext cx="508063" cy="508000"/>
            </a:xfrm>
            <a:prstGeom prst="roundRect">
              <a:avLst>
                <a:gd fmla="val 100800" name="adj"/>
              </a:avLst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20" name="Google Shape;220;p2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251606" y="9029700"/>
              <a:ext cx="292137" cy="292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 " id="221" name="Google Shape;221;p21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616860" y="3369469"/>
            <a:ext cx="142874" cy="1428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21"/>
          <p:cNvGrpSpPr/>
          <p:nvPr/>
        </p:nvGrpSpPr>
        <p:grpSpPr>
          <a:xfrm>
            <a:off x="1590874" y="3343275"/>
            <a:ext cx="190524" cy="190500"/>
            <a:chOff x="4242330" y="8915400"/>
            <a:chExt cx="508063" cy="508000"/>
          </a:xfrm>
        </p:grpSpPr>
        <p:sp>
          <p:nvSpPr>
            <p:cNvPr id="223" name="Google Shape;223;p21"/>
            <p:cNvSpPr/>
            <p:nvPr/>
          </p:nvSpPr>
          <p:spPr>
            <a:xfrm>
              <a:off x="4242330" y="8915400"/>
              <a:ext cx="508063" cy="508000"/>
            </a:xfrm>
            <a:prstGeom prst="roundRect">
              <a:avLst>
                <a:gd fmla="val 100800" name="adj"/>
              </a:avLst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24" name="Google Shape;224;p2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388398" y="9061450"/>
              <a:ext cx="228629" cy="228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 " id="225" name="Google Shape;225;p21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934858" y="3333750"/>
            <a:ext cx="140288" cy="20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1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2158694" y="3333750"/>
            <a:ext cx="140288" cy="20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1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2452675" y="3319463"/>
            <a:ext cx="166687" cy="2380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" name="Google Shape;228;p21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843198" y="3319463"/>
            <a:ext cx="166687" cy="23809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/>
          <p:nvPr/>
        </p:nvSpPr>
        <p:spPr>
          <a:xfrm>
            <a:off x="738184" y="2809875"/>
            <a:ext cx="4333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30" name="Google Shape;230;p21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785808" y="2857500"/>
            <a:ext cx="190499" cy="190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1"/>
          <p:cNvGrpSpPr/>
          <p:nvPr/>
        </p:nvGrpSpPr>
        <p:grpSpPr>
          <a:xfrm>
            <a:off x="738280" y="2810241"/>
            <a:ext cx="285786" cy="285750"/>
            <a:chOff x="1968746" y="7493000"/>
            <a:chExt cx="762095" cy="762000"/>
          </a:xfrm>
        </p:grpSpPr>
        <p:pic>
          <p:nvPicPr>
            <p:cNvPr descr=" " id="232" name="Google Shape;232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968746" y="7493000"/>
              <a:ext cx="76209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3" name="Google Shape;233;p2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2138109" y="7641183"/>
              <a:ext cx="423395" cy="4656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 " id="234" name="Google Shape;234;p21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190619" y="2857500"/>
            <a:ext cx="190499" cy="190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21"/>
          <p:cNvGrpSpPr/>
          <p:nvPr/>
        </p:nvGrpSpPr>
        <p:grpSpPr>
          <a:xfrm>
            <a:off x="1143143" y="2810241"/>
            <a:ext cx="285786" cy="285750"/>
            <a:chOff x="3048381" y="7493000"/>
            <a:chExt cx="762095" cy="762000"/>
          </a:xfrm>
        </p:grpSpPr>
        <p:pic>
          <p:nvPicPr>
            <p:cNvPr descr=" " id="236" name="Google Shape;236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3048381" y="7493000"/>
              <a:ext cx="76209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7" name="Google Shape;237;p21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3217744" y="7641183"/>
              <a:ext cx="423395" cy="4656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" name="Google Shape;238;p21"/>
          <p:cNvGrpSpPr/>
          <p:nvPr/>
        </p:nvGrpSpPr>
        <p:grpSpPr>
          <a:xfrm>
            <a:off x="1548006" y="2810241"/>
            <a:ext cx="285786" cy="285750"/>
            <a:chOff x="4128016" y="7493000"/>
            <a:chExt cx="762095" cy="762000"/>
          </a:xfrm>
        </p:grpSpPr>
        <p:pic>
          <p:nvPicPr>
            <p:cNvPr descr=" " id="239" name="Google Shape;239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128016" y="7493000"/>
              <a:ext cx="76209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0" name="Google Shape;240;p21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4318540" y="7607300"/>
              <a:ext cx="368346" cy="52615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 " id="241" name="Google Shape;241;p21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1952615" y="2809875"/>
            <a:ext cx="285748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1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2000240" y="2857500"/>
            <a:ext cx="190499" cy="19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1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2357425" y="2809875"/>
            <a:ext cx="285748" cy="285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/>
          <p:nvPr/>
        </p:nvSpPr>
        <p:spPr>
          <a:xfrm>
            <a:off x="2405050" y="28575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45" name="Google Shape;245;p21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2429095" y="2881517"/>
            <a:ext cx="144800" cy="142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" name="Google Shape;246;p21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2762236" y="2809875"/>
            <a:ext cx="285748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7" name="Google Shape;247;p21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809861" y="2857500"/>
            <a:ext cx="190499" cy="19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8" name="Google Shape;248;p21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2832436" y="2880066"/>
            <a:ext cx="145358" cy="145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9" name="Google Shape;249;p21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3233721" y="2876550"/>
            <a:ext cx="152399" cy="1523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" name="Google Shape;250;p21"/>
          <p:cNvGrpSpPr/>
          <p:nvPr/>
        </p:nvGrpSpPr>
        <p:grpSpPr>
          <a:xfrm>
            <a:off x="3167459" y="2810241"/>
            <a:ext cx="285786" cy="285750"/>
            <a:chOff x="8446556" y="7493000"/>
            <a:chExt cx="762095" cy="762000"/>
          </a:xfrm>
        </p:grpSpPr>
        <p:pic>
          <p:nvPicPr>
            <p:cNvPr descr=" " id="251" name="Google Shape;251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8446556" y="7493000"/>
              <a:ext cx="76209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2" name="Google Shape;252;p21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8639015" y="7685435"/>
              <a:ext cx="377153" cy="37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3" name="Google Shape;253;p21"/>
          <p:cNvSpPr/>
          <p:nvPr/>
        </p:nvSpPr>
        <p:spPr>
          <a:xfrm>
            <a:off x="3609956" y="2847975"/>
            <a:ext cx="209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" name="Google Shape;254;p21"/>
          <p:cNvGrpSpPr/>
          <p:nvPr/>
        </p:nvGrpSpPr>
        <p:grpSpPr>
          <a:xfrm>
            <a:off x="3572322" y="2810241"/>
            <a:ext cx="285786" cy="285750"/>
            <a:chOff x="9526191" y="7493000"/>
            <a:chExt cx="762095" cy="762000"/>
          </a:xfrm>
        </p:grpSpPr>
        <p:pic>
          <p:nvPicPr>
            <p:cNvPr descr=" " id="255" name="Google Shape;255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9526191" y="7493000"/>
              <a:ext cx="76209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6" name="Google Shape;256;p21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9738248" y="7633047"/>
              <a:ext cx="337981" cy="4818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21"/>
          <p:cNvSpPr/>
          <p:nvPr/>
        </p:nvSpPr>
        <p:spPr>
          <a:xfrm>
            <a:off x="4024291" y="2857500"/>
            <a:ext cx="18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58" name="Google Shape;258;p21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4099747" y="2936825"/>
            <a:ext cx="27086" cy="116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1"/>
          <p:cNvGrpSpPr/>
          <p:nvPr/>
        </p:nvGrpSpPr>
        <p:grpSpPr>
          <a:xfrm>
            <a:off x="3977185" y="2809875"/>
            <a:ext cx="285786" cy="285750"/>
            <a:chOff x="10605826" y="7493000"/>
            <a:chExt cx="762095" cy="762000"/>
          </a:xfrm>
        </p:grpSpPr>
        <p:pic>
          <p:nvPicPr>
            <p:cNvPr descr=" " id="260" name="Google Shape;260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0605826" y="7493000"/>
              <a:ext cx="762095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1"/>
            <p:cNvSpPr/>
            <p:nvPr/>
          </p:nvSpPr>
          <p:spPr>
            <a:xfrm>
              <a:off x="10774122" y="7661275"/>
              <a:ext cx="412802" cy="412750"/>
            </a:xfrm>
            <a:prstGeom prst="roundRect">
              <a:avLst>
                <a:gd fmla="val 59815" name="adj"/>
              </a:avLst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62" name="Google Shape;262;p21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10975362" y="7831534"/>
              <a:ext cx="30960" cy="154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3" name="Google Shape;263;p21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10975362" y="7748984"/>
              <a:ext cx="30960" cy="515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4" name="Google Shape;264;p21"/>
          <p:cNvSpPr/>
          <p:nvPr/>
        </p:nvSpPr>
        <p:spPr>
          <a:xfrm>
            <a:off x="4429102" y="2857500"/>
            <a:ext cx="18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21"/>
          <p:cNvGrpSpPr/>
          <p:nvPr/>
        </p:nvGrpSpPr>
        <p:grpSpPr>
          <a:xfrm>
            <a:off x="4382048" y="2809875"/>
            <a:ext cx="285786" cy="285750"/>
            <a:chOff x="11685461" y="7493000"/>
            <a:chExt cx="762095" cy="762000"/>
          </a:xfrm>
        </p:grpSpPr>
        <p:pic>
          <p:nvPicPr>
            <p:cNvPr descr=" " id="266" name="Google Shape;266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1685461" y="7493000"/>
              <a:ext cx="762095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1"/>
            <p:cNvSpPr/>
            <p:nvPr/>
          </p:nvSpPr>
          <p:spPr>
            <a:xfrm rot="10800000">
              <a:off x="11998212" y="7805738"/>
              <a:ext cx="123840" cy="123825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68" name="Google Shape;268;p21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11855232" y="7652095"/>
              <a:ext cx="422551" cy="4437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21"/>
          <p:cNvGrpSpPr/>
          <p:nvPr/>
        </p:nvGrpSpPr>
        <p:grpSpPr>
          <a:xfrm>
            <a:off x="4786911" y="2810241"/>
            <a:ext cx="285786" cy="285750"/>
            <a:chOff x="12765095" y="7493000"/>
            <a:chExt cx="762095" cy="762000"/>
          </a:xfrm>
        </p:grpSpPr>
        <p:pic>
          <p:nvPicPr>
            <p:cNvPr descr=" " id="270" name="Google Shape;270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2765095" y="7493000"/>
              <a:ext cx="762095" cy="7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1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12930216" y="7658100"/>
              <a:ext cx="431854" cy="431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2" name="Google Shape;272;p21"/>
          <p:cNvSpPr/>
          <p:nvPr/>
        </p:nvSpPr>
        <p:spPr>
          <a:xfrm>
            <a:off x="695321" y="4333875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3" name="Google Shape;273;p21"/>
          <p:cNvGrpSpPr/>
          <p:nvPr/>
        </p:nvGrpSpPr>
        <p:grpSpPr>
          <a:xfrm>
            <a:off x="695412" y="4333875"/>
            <a:ext cx="381048" cy="381000"/>
            <a:chOff x="1854432" y="11557000"/>
            <a:chExt cx="1016127" cy="1016000"/>
          </a:xfrm>
        </p:grpSpPr>
        <p:sp>
          <p:nvSpPr>
            <p:cNvPr id="274" name="Google Shape;274;p21"/>
            <p:cNvSpPr/>
            <p:nvPr/>
          </p:nvSpPr>
          <p:spPr>
            <a:xfrm>
              <a:off x="1854432" y="11557000"/>
              <a:ext cx="1016127" cy="1016000"/>
            </a:xfrm>
            <a:prstGeom prst="ellipse">
              <a:avLst/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2138101" y="117602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1171722" y="4333875"/>
            <a:ext cx="381048" cy="381000"/>
            <a:chOff x="3124591" y="11557000"/>
            <a:chExt cx="1016127" cy="1016000"/>
          </a:xfrm>
        </p:grpSpPr>
        <p:sp>
          <p:nvSpPr>
            <p:cNvPr id="277" name="Google Shape;277;p21"/>
            <p:cNvSpPr/>
            <p:nvPr/>
          </p:nvSpPr>
          <p:spPr>
            <a:xfrm>
              <a:off x="3124591" y="11557000"/>
              <a:ext cx="1016127" cy="1016000"/>
            </a:xfrm>
            <a:prstGeom prst="ellipse">
              <a:avLst/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3408259" y="117602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21"/>
          <p:cNvGrpSpPr/>
          <p:nvPr/>
        </p:nvGrpSpPr>
        <p:grpSpPr>
          <a:xfrm>
            <a:off x="1648031" y="4333875"/>
            <a:ext cx="381048" cy="381000"/>
            <a:chOff x="4394749" y="11557000"/>
            <a:chExt cx="1016127" cy="1016000"/>
          </a:xfrm>
        </p:grpSpPr>
        <p:sp>
          <p:nvSpPr>
            <p:cNvPr id="280" name="Google Shape;280;p21"/>
            <p:cNvSpPr/>
            <p:nvPr/>
          </p:nvSpPr>
          <p:spPr>
            <a:xfrm>
              <a:off x="4394749" y="11557000"/>
              <a:ext cx="1016127" cy="1016000"/>
            </a:xfrm>
            <a:prstGeom prst="ellipse">
              <a:avLst/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4678418" y="117602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Google Shape;282;p21"/>
          <p:cNvGrpSpPr/>
          <p:nvPr/>
        </p:nvGrpSpPr>
        <p:grpSpPr>
          <a:xfrm>
            <a:off x="2124341" y="4333875"/>
            <a:ext cx="381048" cy="381000"/>
            <a:chOff x="5664908" y="11557000"/>
            <a:chExt cx="1016127" cy="1016000"/>
          </a:xfrm>
        </p:grpSpPr>
        <p:sp>
          <p:nvSpPr>
            <p:cNvPr id="283" name="Google Shape;283;p21"/>
            <p:cNvSpPr/>
            <p:nvPr/>
          </p:nvSpPr>
          <p:spPr>
            <a:xfrm>
              <a:off x="5664908" y="11557000"/>
              <a:ext cx="1016127" cy="1016000"/>
            </a:xfrm>
            <a:prstGeom prst="ellipse">
              <a:avLst/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5948577" y="117602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21"/>
          <p:cNvGrpSpPr/>
          <p:nvPr/>
        </p:nvGrpSpPr>
        <p:grpSpPr>
          <a:xfrm>
            <a:off x="2600650" y="4333875"/>
            <a:ext cx="381048" cy="381000"/>
            <a:chOff x="6935067" y="11557000"/>
            <a:chExt cx="1016127" cy="1016000"/>
          </a:xfrm>
        </p:grpSpPr>
        <p:sp>
          <p:nvSpPr>
            <p:cNvPr id="286" name="Google Shape;286;p21"/>
            <p:cNvSpPr/>
            <p:nvPr/>
          </p:nvSpPr>
          <p:spPr>
            <a:xfrm>
              <a:off x="6935067" y="11557000"/>
              <a:ext cx="1016127" cy="1016000"/>
            </a:xfrm>
            <a:prstGeom prst="ellipse">
              <a:avLst/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7218736" y="117602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21"/>
          <p:cNvGrpSpPr/>
          <p:nvPr/>
        </p:nvGrpSpPr>
        <p:grpSpPr>
          <a:xfrm>
            <a:off x="3076960" y="4333875"/>
            <a:ext cx="381048" cy="381000"/>
            <a:chOff x="8205226" y="11557000"/>
            <a:chExt cx="1016127" cy="1016000"/>
          </a:xfrm>
        </p:grpSpPr>
        <p:sp>
          <p:nvSpPr>
            <p:cNvPr id="289" name="Google Shape;289;p21"/>
            <p:cNvSpPr/>
            <p:nvPr/>
          </p:nvSpPr>
          <p:spPr>
            <a:xfrm>
              <a:off x="8205226" y="11557000"/>
              <a:ext cx="1016127" cy="1016000"/>
            </a:xfrm>
            <a:prstGeom prst="ellipse">
              <a:avLst/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8488894" y="117602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21"/>
          <p:cNvGrpSpPr/>
          <p:nvPr/>
        </p:nvGrpSpPr>
        <p:grpSpPr>
          <a:xfrm>
            <a:off x="3553269" y="4333875"/>
            <a:ext cx="381048" cy="381000"/>
            <a:chOff x="9475384" y="11557000"/>
            <a:chExt cx="1016127" cy="1016000"/>
          </a:xfrm>
        </p:grpSpPr>
        <p:sp>
          <p:nvSpPr>
            <p:cNvPr id="292" name="Google Shape;292;p21"/>
            <p:cNvSpPr/>
            <p:nvPr/>
          </p:nvSpPr>
          <p:spPr>
            <a:xfrm>
              <a:off x="9475384" y="11557000"/>
              <a:ext cx="1016127" cy="1016000"/>
            </a:xfrm>
            <a:prstGeom prst="ellipse">
              <a:avLst/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9759053" y="117602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21"/>
          <p:cNvGrpSpPr/>
          <p:nvPr/>
        </p:nvGrpSpPr>
        <p:grpSpPr>
          <a:xfrm>
            <a:off x="4029579" y="4333875"/>
            <a:ext cx="381048" cy="381000"/>
            <a:chOff x="10745543" y="11557000"/>
            <a:chExt cx="1016127" cy="1016000"/>
          </a:xfrm>
        </p:grpSpPr>
        <p:sp>
          <p:nvSpPr>
            <p:cNvPr id="295" name="Google Shape;295;p21"/>
            <p:cNvSpPr/>
            <p:nvPr/>
          </p:nvSpPr>
          <p:spPr>
            <a:xfrm>
              <a:off x="10745543" y="11557000"/>
              <a:ext cx="1016127" cy="1016000"/>
            </a:xfrm>
            <a:prstGeom prst="ellipse">
              <a:avLst/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11029212" y="117602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21"/>
          <p:cNvGrpSpPr/>
          <p:nvPr/>
        </p:nvGrpSpPr>
        <p:grpSpPr>
          <a:xfrm>
            <a:off x="4505888" y="4333875"/>
            <a:ext cx="381048" cy="381000"/>
            <a:chOff x="12015702" y="11557000"/>
            <a:chExt cx="1016127" cy="1016000"/>
          </a:xfrm>
        </p:grpSpPr>
        <p:sp>
          <p:nvSpPr>
            <p:cNvPr id="298" name="Google Shape;298;p21"/>
            <p:cNvSpPr/>
            <p:nvPr/>
          </p:nvSpPr>
          <p:spPr>
            <a:xfrm>
              <a:off x="12015702" y="11557000"/>
              <a:ext cx="1016127" cy="1016000"/>
            </a:xfrm>
            <a:prstGeom prst="ellipse">
              <a:avLst/>
            </a:prstGeom>
            <a:solidFill>
              <a:srgbClr val="1E52A8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12299371" y="11760200"/>
              <a:ext cx="461491" cy="753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" name="Google Shape;300;p21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Иконки и графические элементы дизайна</a:t>
            </a:r>
            <a:endParaRPr/>
          </a:p>
        </p:txBody>
      </p:sp>
      <p:sp>
        <p:nvSpPr>
          <p:cNvPr id="301" name="Google Shape;301;p21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07" name="Google Shape;3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1038" y="857250"/>
            <a:ext cx="4452914" cy="4285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8" name="Google Shape;3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1038" y="857250"/>
            <a:ext cx="4452914" cy="428569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/>
          <p:nvPr/>
        </p:nvSpPr>
        <p:spPr>
          <a:xfrm>
            <a:off x="2409812" y="1624013"/>
            <a:ext cx="4691100" cy="30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2409812" y="1624013"/>
            <a:ext cx="4691100" cy="452400"/>
          </a:xfrm>
          <a:prstGeom prst="roundRect">
            <a:avLst>
              <a:gd fmla="val 21221" name="adj"/>
            </a:avLst>
          </a:prstGeom>
          <a:solidFill>
            <a:srgbClr val="00348A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1F497D"/>
              </a:solidFill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2409812" y="2266950"/>
            <a:ext cx="4691100" cy="452400"/>
          </a:xfrm>
          <a:prstGeom prst="roundRect">
            <a:avLst>
              <a:gd fmla="val 21221" name="adj"/>
            </a:avLst>
          </a:prstGeom>
          <a:solidFill>
            <a:srgbClr val="1E52A8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2409812" y="2909888"/>
            <a:ext cx="4691100" cy="452400"/>
          </a:xfrm>
          <a:prstGeom prst="roundRect">
            <a:avLst>
              <a:gd fmla="val 21221" name="adj"/>
            </a:avLst>
          </a:prstGeom>
          <a:solidFill>
            <a:srgbClr val="14D99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2409812" y="3552825"/>
            <a:ext cx="4691100" cy="452400"/>
          </a:xfrm>
          <a:prstGeom prst="roundRect">
            <a:avLst>
              <a:gd fmla="val 21221" name="adj"/>
            </a:avLst>
          </a:prstGeom>
          <a:solidFill>
            <a:srgbClr val="FFFFFF"/>
          </a:solidFill>
          <a:ln cap="flat" cmpd="sng" w="38100">
            <a:solidFill>
              <a:srgbClr val="1E5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2409812" y="4195763"/>
            <a:ext cx="4691100" cy="452400"/>
          </a:xfrm>
          <a:prstGeom prst="roundRect">
            <a:avLst>
              <a:gd fmla="val 21221" name="adj"/>
            </a:avLst>
          </a:prstGeom>
          <a:solidFill>
            <a:srgbClr val="3D3D3E"/>
          </a:solidFill>
          <a:ln cap="flat" cmpd="sng" w="38100">
            <a:solidFill>
              <a:srgbClr val="3D3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476248" y="1747838"/>
            <a:ext cx="1838400" cy="27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476248" y="1747838"/>
            <a:ext cx="1895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Основной цвет  #00348A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476248" y="2344341"/>
            <a:ext cx="1895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48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0348A"/>
                </a:solidFill>
                <a:latin typeface="Arial"/>
                <a:ea typeface="Arial"/>
                <a:cs typeface="Arial"/>
                <a:sym typeface="Arial"/>
              </a:rPr>
              <a:t>Дополнительный цвет  #1E52A8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476248" y="2940844"/>
            <a:ext cx="1676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48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0348A"/>
                </a:solidFill>
                <a:latin typeface="Arial"/>
                <a:ea typeface="Arial"/>
                <a:cs typeface="Arial"/>
                <a:sym typeface="Arial"/>
              </a:rPr>
              <a:t>Акцентный цвет #14D99F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476248" y="3537347"/>
            <a:ext cx="1895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48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0348A"/>
                </a:solidFill>
                <a:latin typeface="Arial"/>
                <a:ea typeface="Arial"/>
                <a:cs typeface="Arial"/>
                <a:sym typeface="Arial"/>
              </a:rPr>
              <a:t>Дополнительный цвет #FFFFFF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476248" y="4133850"/>
            <a:ext cx="1895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48A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0348A"/>
                </a:solidFill>
                <a:latin typeface="Arial"/>
                <a:ea typeface="Arial"/>
                <a:cs typeface="Arial"/>
                <a:sym typeface="Arial"/>
              </a:rPr>
              <a:t>Цвет 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текста</a:t>
            </a:r>
            <a:r>
              <a:rPr lang="en-US" sz="1300">
                <a:solidFill>
                  <a:srgbClr val="00348A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br>
              <a:rPr lang="en-US" sz="1300">
                <a:solidFill>
                  <a:srgbClr val="00348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>
                <a:solidFill>
                  <a:srgbClr val="00348A"/>
                </a:solidFill>
                <a:latin typeface="Arial"/>
                <a:ea typeface="Arial"/>
                <a:cs typeface="Arial"/>
                <a:sym typeface="Arial"/>
              </a:rPr>
              <a:t>#3D3D3E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2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/>
              <a:t>Цветовая палитра</a:t>
            </a:r>
            <a:endParaRPr/>
          </a:p>
        </p:txBody>
      </p:sp>
      <p:sp>
        <p:nvSpPr>
          <p:cNvPr id="322" name="Google Shape;322;p22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/>
          <p:nvPr/>
        </p:nvSpPr>
        <p:spPr>
          <a:xfrm>
            <a:off x="6449979" y="4119563"/>
            <a:ext cx="10209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Подпись к фото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476248" y="1885950"/>
            <a:ext cx="45339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3"/>
          <p:cNvSpPr/>
          <p:nvPr/>
        </p:nvSpPr>
        <p:spPr>
          <a:xfrm>
            <a:off x="476248" y="1885950"/>
            <a:ext cx="45846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СОВМЕСТНЫЕ НАУЧНЫЕ ИССЛЕДОВАНИЯ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476248" y="2205038"/>
            <a:ext cx="4578300" cy="21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1" marL="254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 рамках направления подготовки бакалавров 02.03.02 Фундаментальная информатика и информационные технологии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 рамках направления подготовки бакалавров 02.03.02 Фундаментальная информатика и информационные технологии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 рамках направления подготовки бакалавров 02.03.02 Фундаментальная информатика и информационные технологии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 рамках направления подготовки бакалавров 02.03.02 Фундаментальная информатика и информационные технологии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 рамках направления подготовки бакалавров 02.03.02 Фундаментальная информатика и информационные технологии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 рамках направления подготовки бакалавров 02.03.02 Фундаментальная информатика и информационные технологии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32" name="Google Shape;3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7220" y="1885950"/>
            <a:ext cx="3362307" cy="219998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Пример слайда с текстом</a:t>
            </a:r>
            <a:endParaRPr/>
          </a:p>
        </p:txBody>
      </p:sp>
      <p:sp>
        <p:nvSpPr>
          <p:cNvPr id="334" name="Google Shape;334;p23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/>
          <p:nvPr/>
        </p:nvSpPr>
        <p:spPr>
          <a:xfrm>
            <a:off x="690559" y="1852613"/>
            <a:ext cx="10143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1523992" y="1871663"/>
            <a:ext cx="180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2" name="Google Shape;342;p24"/>
          <p:cNvGrpSpPr/>
          <p:nvPr/>
        </p:nvGrpSpPr>
        <p:grpSpPr>
          <a:xfrm>
            <a:off x="476310" y="1662113"/>
            <a:ext cx="4048631" cy="1352550"/>
            <a:chOff x="1270159" y="4432300"/>
            <a:chExt cx="10796349" cy="3606800"/>
          </a:xfrm>
        </p:grpSpPr>
        <p:pic>
          <p:nvPicPr>
            <p:cNvPr descr=" " id="343" name="Google Shape;343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159" y="4432300"/>
              <a:ext cx="10796349" cy="360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24"/>
            <p:cNvSpPr/>
            <p:nvPr/>
          </p:nvSpPr>
          <p:spPr>
            <a:xfrm>
              <a:off x="1841730" y="4940300"/>
              <a:ext cx="2057657" cy="6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2025 год </a:t>
              </a:r>
              <a:endParaRPr b="1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 " id="345" name="Google Shape;345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24195" y="5003800"/>
              <a:ext cx="280626" cy="37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24"/>
            <p:cNvSpPr/>
            <p:nvPr/>
          </p:nvSpPr>
          <p:spPr>
            <a:xfrm>
              <a:off x="4267733" y="4991100"/>
              <a:ext cx="414919" cy="5545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D99F"/>
                </a:buClr>
                <a:buSzPts val="1200"/>
                <a:buFont typeface="Inter"/>
                <a:buNone/>
              </a:pPr>
              <a:r>
                <a:rPr b="1" lang="en-US" sz="1200">
                  <a:solidFill>
                    <a:srgbClr val="14D99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4"/>
            <p:cNvSpPr/>
            <p:nvPr/>
          </p:nvSpPr>
          <p:spPr>
            <a:xfrm>
              <a:off x="1841730" y="5778500"/>
              <a:ext cx="10089294" cy="1464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 программ профессиональной переподготовки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1788 человек успешно завершили обучение на «Цифровой кафедре» ННГУ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24"/>
          <p:cNvGrpSpPr/>
          <p:nvPr/>
        </p:nvGrpSpPr>
        <p:grpSpPr>
          <a:xfrm>
            <a:off x="476310" y="3109913"/>
            <a:ext cx="4048631" cy="1352550"/>
            <a:chOff x="1270159" y="8293100"/>
            <a:chExt cx="10796349" cy="3606800"/>
          </a:xfrm>
        </p:grpSpPr>
        <p:pic>
          <p:nvPicPr>
            <p:cNvPr descr=" " id="349" name="Google Shape;34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159" y="8293100"/>
              <a:ext cx="10796349" cy="360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24"/>
            <p:cNvSpPr/>
            <p:nvPr/>
          </p:nvSpPr>
          <p:spPr>
            <a:xfrm>
              <a:off x="1841730" y="8801100"/>
              <a:ext cx="2057657" cy="6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2025 год</a:t>
              </a:r>
              <a:endParaRPr b="1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4"/>
            <p:cNvSpPr/>
            <p:nvPr/>
          </p:nvSpPr>
          <p:spPr>
            <a:xfrm>
              <a:off x="1841730" y="9639300"/>
              <a:ext cx="10089294" cy="1464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 программ профессиональной переподготовки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1788 человек успешно завершили обучение на «Цифровой кафедре» ННГУ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" name="Google Shape;352;p24"/>
          <p:cNvGrpSpPr/>
          <p:nvPr/>
        </p:nvGrpSpPr>
        <p:grpSpPr>
          <a:xfrm>
            <a:off x="4620203" y="3109913"/>
            <a:ext cx="4048631" cy="1352550"/>
            <a:chOff x="12320540" y="8293100"/>
            <a:chExt cx="10796349" cy="3606800"/>
          </a:xfrm>
        </p:grpSpPr>
        <p:pic>
          <p:nvPicPr>
            <p:cNvPr descr=" " id="353" name="Google Shape;353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320540" y="8293100"/>
              <a:ext cx="10796349" cy="360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24"/>
            <p:cNvSpPr/>
            <p:nvPr/>
          </p:nvSpPr>
          <p:spPr>
            <a:xfrm>
              <a:off x="12892111" y="8801100"/>
              <a:ext cx="2057657" cy="6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2025 год</a:t>
              </a:r>
              <a:endParaRPr b="1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4"/>
            <p:cNvSpPr/>
            <p:nvPr/>
          </p:nvSpPr>
          <p:spPr>
            <a:xfrm>
              <a:off x="12892111" y="9639300"/>
              <a:ext cx="10089294" cy="1464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 программ профессиональной переподготовки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1788 человек успешно завершили обучение на «Цифровой кафедре» ННГУ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6" name="Google Shape;356;p24"/>
          <p:cNvGrpSpPr/>
          <p:nvPr/>
        </p:nvGrpSpPr>
        <p:grpSpPr>
          <a:xfrm>
            <a:off x="4620203" y="1662113"/>
            <a:ext cx="4048631" cy="1352550"/>
            <a:chOff x="12320540" y="4432300"/>
            <a:chExt cx="10796349" cy="3606800"/>
          </a:xfrm>
        </p:grpSpPr>
        <p:pic>
          <p:nvPicPr>
            <p:cNvPr descr=" " id="357" name="Google Shape;357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320540" y="4432300"/>
              <a:ext cx="10796349" cy="360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24"/>
            <p:cNvSpPr/>
            <p:nvPr/>
          </p:nvSpPr>
          <p:spPr>
            <a:xfrm>
              <a:off x="12892111" y="4940300"/>
              <a:ext cx="2057657" cy="6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2025 год</a:t>
              </a:r>
              <a:endParaRPr b="1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12892111" y="5778500"/>
              <a:ext cx="10089294" cy="1464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 программ профессиональной переподготовки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1788 человек успешно завершили обучение на «Цифровой кафедре» ННГУ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24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-US"/>
              <a:t>Пример слайда с карточками</a:t>
            </a:r>
            <a:endParaRPr/>
          </a:p>
        </p:txBody>
      </p:sp>
      <p:sp>
        <p:nvSpPr>
          <p:cNvPr id="361" name="Google Shape;361;p24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25"/>
          <p:cNvGrpSpPr/>
          <p:nvPr/>
        </p:nvGrpSpPr>
        <p:grpSpPr>
          <a:xfrm>
            <a:off x="6011026" y="2119313"/>
            <a:ext cx="2657807" cy="1409700"/>
            <a:chOff x="16029403" y="5651500"/>
            <a:chExt cx="7087486" cy="3759200"/>
          </a:xfrm>
        </p:grpSpPr>
        <p:pic>
          <p:nvPicPr>
            <p:cNvPr descr=" " id="368" name="Google Shape;368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029403" y="5651500"/>
              <a:ext cx="7087486" cy="375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25"/>
            <p:cNvSpPr/>
            <p:nvPr/>
          </p:nvSpPr>
          <p:spPr>
            <a:xfrm>
              <a:off x="16289245" y="6096000"/>
              <a:ext cx="2057657" cy="6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</a:pPr>
              <a:r>
                <a:rPr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2025 год</a:t>
              </a:r>
              <a:endPara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16289245" y="6934200"/>
              <a:ext cx="6380431" cy="2277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 программ профессиональной переподготовки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1788 человек успешно завершили обучение на «Цифровой кафедре» ННГУ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1" name="Google Shape;371;p25"/>
          <p:cNvGrpSpPr/>
          <p:nvPr/>
        </p:nvGrpSpPr>
        <p:grpSpPr>
          <a:xfrm>
            <a:off x="3238905" y="2119313"/>
            <a:ext cx="2676859" cy="1409700"/>
            <a:chOff x="8637080" y="5651500"/>
            <a:chExt cx="7138292" cy="3759200"/>
          </a:xfrm>
        </p:grpSpPr>
        <p:pic>
          <p:nvPicPr>
            <p:cNvPr descr=" " id="372" name="Google Shape;372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7080" y="5651500"/>
              <a:ext cx="7138292" cy="375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" name="Google Shape;373;p25"/>
            <p:cNvSpPr/>
            <p:nvPr/>
          </p:nvSpPr>
          <p:spPr>
            <a:xfrm>
              <a:off x="8903851" y="6096000"/>
              <a:ext cx="2057657" cy="6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</a:pPr>
              <a:r>
                <a:rPr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2025 год</a:t>
              </a:r>
              <a:endPara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5"/>
            <p:cNvSpPr/>
            <p:nvPr/>
          </p:nvSpPr>
          <p:spPr>
            <a:xfrm>
              <a:off x="8903851" y="6934200"/>
              <a:ext cx="6431237" cy="2277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 программ профессиональной переподготовки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1788 человек успешно завершили обучение на «Цифровой кафедре» ННГУ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5" name="Google Shape;375;p25"/>
          <p:cNvSpPr/>
          <p:nvPr/>
        </p:nvSpPr>
        <p:spPr>
          <a:xfrm>
            <a:off x="690559" y="2286000"/>
            <a:ext cx="10143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1523992" y="2305050"/>
            <a:ext cx="180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7" name="Google Shape;377;p25"/>
          <p:cNvGrpSpPr/>
          <p:nvPr/>
        </p:nvGrpSpPr>
        <p:grpSpPr>
          <a:xfrm>
            <a:off x="476310" y="2119313"/>
            <a:ext cx="2667333" cy="1409700"/>
            <a:chOff x="1270159" y="5651500"/>
            <a:chExt cx="7112889" cy="3759200"/>
          </a:xfrm>
        </p:grpSpPr>
        <p:pic>
          <p:nvPicPr>
            <p:cNvPr descr=" " id="378" name="Google Shape;378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70159" y="5651500"/>
              <a:ext cx="7112889" cy="375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25"/>
            <p:cNvSpPr/>
            <p:nvPr/>
          </p:nvSpPr>
          <p:spPr>
            <a:xfrm>
              <a:off x="1530000" y="6096000"/>
              <a:ext cx="2057657" cy="6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Arial"/>
                <a:buNone/>
              </a:pPr>
              <a:r>
                <a:rPr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2025 год </a:t>
              </a:r>
              <a:endPara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 " id="380" name="Google Shape;380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27955" y="6159500"/>
              <a:ext cx="280626" cy="37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" name="Google Shape;381;p25"/>
            <p:cNvSpPr/>
            <p:nvPr/>
          </p:nvSpPr>
          <p:spPr>
            <a:xfrm>
              <a:off x="3871493" y="6146800"/>
              <a:ext cx="414919" cy="5545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D99F"/>
                </a:buClr>
                <a:buSzPts val="1200"/>
                <a:buFont typeface="Inter"/>
                <a:buNone/>
              </a:pPr>
              <a:r>
                <a:rPr b="1" lang="en-US" sz="1200">
                  <a:solidFill>
                    <a:srgbClr val="14D99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5"/>
            <p:cNvSpPr/>
            <p:nvPr/>
          </p:nvSpPr>
          <p:spPr>
            <a:xfrm>
              <a:off x="1530000" y="6934200"/>
              <a:ext cx="6405834" cy="2277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 программ профессиональной переподготовки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7000" lvl="1" marL="25400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1788 человек успешно завершили обучение на «Цифровой кафедре» ННГУ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 " id="383" name="Google Shape;38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48" y="4010025"/>
            <a:ext cx="5981669" cy="476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5"/>
          <p:cNvSpPr/>
          <p:nvPr/>
        </p:nvSpPr>
        <p:spPr>
          <a:xfrm>
            <a:off x="1004882" y="3814763"/>
            <a:ext cx="550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5"/>
          <p:cNvSpPr/>
          <p:nvPr/>
        </p:nvSpPr>
        <p:spPr>
          <a:xfrm>
            <a:off x="1004882" y="3814763"/>
            <a:ext cx="381000" cy="381000"/>
          </a:xfrm>
          <a:prstGeom prst="ellipse">
            <a:avLst/>
          </a:prstGeom>
          <a:solidFill>
            <a:srgbClr val="14D99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5"/>
          <p:cNvSpPr/>
          <p:nvPr/>
        </p:nvSpPr>
        <p:spPr>
          <a:xfrm>
            <a:off x="1111244" y="3890963"/>
            <a:ext cx="173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5"/>
          <p:cNvSpPr/>
          <p:nvPr/>
        </p:nvSpPr>
        <p:spPr>
          <a:xfrm>
            <a:off x="2028814" y="3814763"/>
            <a:ext cx="381000" cy="381000"/>
          </a:xfrm>
          <a:prstGeom prst="ellipse">
            <a:avLst/>
          </a:prstGeom>
          <a:solidFill>
            <a:srgbClr val="14D99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2135176" y="3890963"/>
            <a:ext cx="173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5"/>
          <p:cNvSpPr/>
          <p:nvPr/>
        </p:nvSpPr>
        <p:spPr>
          <a:xfrm>
            <a:off x="3052747" y="3814763"/>
            <a:ext cx="381000" cy="381000"/>
          </a:xfrm>
          <a:prstGeom prst="ellipse">
            <a:avLst/>
          </a:prstGeom>
          <a:solidFill>
            <a:srgbClr val="14D99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3159108" y="3890963"/>
            <a:ext cx="173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4076679" y="3814763"/>
            <a:ext cx="381000" cy="381000"/>
          </a:xfrm>
          <a:prstGeom prst="ellipse">
            <a:avLst/>
          </a:prstGeom>
          <a:solidFill>
            <a:srgbClr val="14D99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4183041" y="3890963"/>
            <a:ext cx="173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5100611" y="3814763"/>
            <a:ext cx="381000" cy="381000"/>
          </a:xfrm>
          <a:prstGeom prst="ellipse">
            <a:avLst/>
          </a:prstGeom>
          <a:solidFill>
            <a:srgbClr val="14D99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5"/>
          <p:cNvSpPr/>
          <p:nvPr/>
        </p:nvSpPr>
        <p:spPr>
          <a:xfrm>
            <a:off x="5206973" y="3890963"/>
            <a:ext cx="173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6124543" y="3814763"/>
            <a:ext cx="381000" cy="381000"/>
          </a:xfrm>
          <a:prstGeom prst="ellipse">
            <a:avLst/>
          </a:prstGeom>
          <a:solidFill>
            <a:srgbClr val="14D99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/>
          <p:nvPr/>
        </p:nvSpPr>
        <p:spPr>
          <a:xfrm>
            <a:off x="6230905" y="3890963"/>
            <a:ext cx="173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6650003" y="3848100"/>
            <a:ext cx="12969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D99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4D99F"/>
                </a:solidFill>
                <a:latin typeface="Arial"/>
                <a:ea typeface="Arial"/>
                <a:cs typeface="Arial"/>
                <a:sym typeface="Arial"/>
              </a:rPr>
              <a:t>Комплексная  MES-Система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5"/>
          <p:cNvSpPr txBox="1"/>
          <p:nvPr>
            <p:ph type="title"/>
          </p:nvPr>
        </p:nvSpPr>
        <p:spPr>
          <a:xfrm>
            <a:off x="297946" y="10081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0000"/>
              <a:buFont typeface="Arial"/>
              <a:buNone/>
            </a:pPr>
            <a:r>
              <a:rPr lang="en-US"/>
              <a:t>Пример слайда с карточками и шкалой на тёмном фоне</a:t>
            </a:r>
            <a:endParaRPr/>
          </a:p>
        </p:txBody>
      </p:sp>
      <p:sp>
        <p:nvSpPr>
          <p:cNvPr id="399" name="Google Shape;399;p25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15000">
              <a:schemeClr val="dk1"/>
            </a:gs>
            <a:gs pos="100000">
              <a:schemeClr val="accent2"/>
            </a:gs>
          </a:gsLst>
          <a:lin ang="599887" scaled="0"/>
        </a:gra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6"/>
          <p:cNvPicPr preferRelativeResize="0"/>
          <p:nvPr/>
        </p:nvPicPr>
        <p:blipFill rotWithShape="1">
          <a:blip r:embed="rId3">
            <a:alphaModFix/>
          </a:blip>
          <a:srcRect b="20524" l="0" r="28922" t="-3415"/>
          <a:stretch/>
        </p:blipFill>
        <p:spPr>
          <a:xfrm>
            <a:off x="5343833" y="716973"/>
            <a:ext cx="3788587" cy="441873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6"/>
          <p:cNvSpPr/>
          <p:nvPr/>
        </p:nvSpPr>
        <p:spPr>
          <a:xfrm>
            <a:off x="476248" y="2052638"/>
            <a:ext cx="1962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7" name="Google Shape;407;p26"/>
          <p:cNvGrpSpPr/>
          <p:nvPr/>
        </p:nvGrpSpPr>
        <p:grpSpPr>
          <a:xfrm>
            <a:off x="468690" y="2052638"/>
            <a:ext cx="2107463" cy="721847"/>
            <a:chOff x="1249839" y="5473700"/>
            <a:chExt cx="5619900" cy="1924926"/>
          </a:xfrm>
        </p:grpSpPr>
        <p:sp>
          <p:nvSpPr>
            <p:cNvPr id="408" name="Google Shape;408;p26"/>
            <p:cNvSpPr/>
            <p:nvPr/>
          </p:nvSpPr>
          <p:spPr>
            <a:xfrm>
              <a:off x="1249839" y="5473700"/>
              <a:ext cx="5619900" cy="18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30 000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1285890" y="6908800"/>
              <a:ext cx="5577450" cy="489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СТУДЕНТОВ  ИЗ 105 СТРАН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26"/>
          <p:cNvSpPr/>
          <p:nvPr/>
        </p:nvSpPr>
        <p:spPr>
          <a:xfrm>
            <a:off x="476248" y="3219450"/>
            <a:ext cx="1962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1" name="Google Shape;411;p26"/>
          <p:cNvGrpSpPr/>
          <p:nvPr/>
        </p:nvGrpSpPr>
        <p:grpSpPr>
          <a:xfrm>
            <a:off x="468690" y="3219450"/>
            <a:ext cx="2107515" cy="721847"/>
            <a:chOff x="1249839" y="8585200"/>
            <a:chExt cx="5620041" cy="1924926"/>
          </a:xfrm>
        </p:grpSpPr>
        <p:sp>
          <p:nvSpPr>
            <p:cNvPr id="412" name="Google Shape;412;p26"/>
            <p:cNvSpPr/>
            <p:nvPr/>
          </p:nvSpPr>
          <p:spPr>
            <a:xfrm>
              <a:off x="1249839" y="8585200"/>
              <a:ext cx="5620041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D99F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rgbClr val="14D99F"/>
                  </a:solidFill>
                  <a:latin typeface="Arial"/>
                  <a:ea typeface="Arial"/>
                  <a:cs typeface="Arial"/>
                  <a:sym typeface="Arial"/>
                </a:rPr>
                <a:t>30 000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1285890" y="10020300"/>
              <a:ext cx="5341894" cy="489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СТУДЕНТОВ  ИЗ 105 СТРАН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4" name="Google Shape;414;p26"/>
          <p:cNvSpPr/>
          <p:nvPr/>
        </p:nvSpPr>
        <p:spPr>
          <a:xfrm>
            <a:off x="3009884" y="2043113"/>
            <a:ext cx="17763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5" name="Google Shape;415;p26"/>
          <p:cNvGrpSpPr/>
          <p:nvPr/>
        </p:nvGrpSpPr>
        <p:grpSpPr>
          <a:xfrm>
            <a:off x="2738321" y="2043113"/>
            <a:ext cx="2193710" cy="746764"/>
            <a:chOff x="7302188" y="5448300"/>
            <a:chExt cx="5849894" cy="1991371"/>
          </a:xfrm>
        </p:grpSpPr>
        <p:sp>
          <p:nvSpPr>
            <p:cNvPr id="416" name="Google Shape;416;p26"/>
            <p:cNvSpPr/>
            <p:nvPr/>
          </p:nvSpPr>
          <p:spPr>
            <a:xfrm>
              <a:off x="8027403" y="5448300"/>
              <a:ext cx="5124679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7302188" y="6908800"/>
              <a:ext cx="5182248" cy="530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АСПИРАНТОВ  И ДОКТОРАНТОВ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p26"/>
          <p:cNvSpPr/>
          <p:nvPr/>
        </p:nvSpPr>
        <p:spPr>
          <a:xfrm>
            <a:off x="3009884" y="3219450"/>
            <a:ext cx="17763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9" name="Google Shape;419;p26"/>
          <p:cNvGrpSpPr/>
          <p:nvPr/>
        </p:nvGrpSpPr>
        <p:grpSpPr>
          <a:xfrm>
            <a:off x="2738321" y="3219450"/>
            <a:ext cx="2210083" cy="721847"/>
            <a:chOff x="7302188" y="8585200"/>
            <a:chExt cx="5893554" cy="1924926"/>
          </a:xfrm>
        </p:grpSpPr>
        <p:sp>
          <p:nvSpPr>
            <p:cNvPr id="420" name="Google Shape;420;p26"/>
            <p:cNvSpPr/>
            <p:nvPr/>
          </p:nvSpPr>
          <p:spPr>
            <a:xfrm>
              <a:off x="8027403" y="8585200"/>
              <a:ext cx="5124679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D99F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rgbClr val="14D99F"/>
                  </a:solidFill>
                  <a:latin typeface="Arial"/>
                  <a:ea typeface="Arial"/>
                  <a:cs typeface="Arial"/>
                  <a:sym typeface="Arial"/>
                </a:rPr>
                <a:t>1000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7302188" y="10045700"/>
              <a:ext cx="5893554" cy="4644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АСПИРАНТОВ  И ДОКТОРАНТОВ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2" name="Google Shape;422;p26"/>
          <p:cNvSpPr/>
          <p:nvPr/>
        </p:nvSpPr>
        <p:spPr>
          <a:xfrm>
            <a:off x="5081561" y="2043113"/>
            <a:ext cx="19620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26"/>
          <p:cNvGrpSpPr/>
          <p:nvPr/>
        </p:nvGrpSpPr>
        <p:grpSpPr>
          <a:xfrm>
            <a:off x="5082223" y="2043113"/>
            <a:ext cx="2107515" cy="721847"/>
            <a:chOff x="13552594" y="5448300"/>
            <a:chExt cx="5620041" cy="1924926"/>
          </a:xfrm>
        </p:grpSpPr>
        <p:sp>
          <p:nvSpPr>
            <p:cNvPr id="424" name="Google Shape;424;p26"/>
            <p:cNvSpPr/>
            <p:nvPr/>
          </p:nvSpPr>
          <p:spPr>
            <a:xfrm>
              <a:off x="13552594" y="5448300"/>
              <a:ext cx="5620041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6"/>
            <p:cNvSpPr/>
            <p:nvPr/>
          </p:nvSpPr>
          <p:spPr>
            <a:xfrm>
              <a:off x="13756116" y="6883400"/>
              <a:ext cx="5341894" cy="489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ПРОФЕССОРОВ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6" name="Google Shape;426;p26"/>
          <p:cNvSpPr/>
          <p:nvPr/>
        </p:nvSpPr>
        <p:spPr>
          <a:xfrm>
            <a:off x="5081561" y="3219450"/>
            <a:ext cx="19620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26"/>
          <p:cNvGrpSpPr/>
          <p:nvPr/>
        </p:nvGrpSpPr>
        <p:grpSpPr>
          <a:xfrm>
            <a:off x="5082223" y="3219450"/>
            <a:ext cx="2107515" cy="721847"/>
            <a:chOff x="13552594" y="8585200"/>
            <a:chExt cx="5620041" cy="1924926"/>
          </a:xfrm>
        </p:grpSpPr>
        <p:sp>
          <p:nvSpPr>
            <p:cNvPr id="428" name="Google Shape;428;p26"/>
            <p:cNvSpPr/>
            <p:nvPr/>
          </p:nvSpPr>
          <p:spPr>
            <a:xfrm>
              <a:off x="13552594" y="8585200"/>
              <a:ext cx="5620041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D99F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rgbClr val="14D99F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6"/>
            <p:cNvSpPr/>
            <p:nvPr/>
          </p:nvSpPr>
          <p:spPr>
            <a:xfrm>
              <a:off x="13756116" y="10020300"/>
              <a:ext cx="5341894" cy="489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ПРОФЕССОРОВ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0" name="Google Shape;430;p26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слайда с инфографикой</a:t>
            </a:r>
            <a:endParaRPr/>
          </a:p>
        </p:txBody>
      </p:sp>
      <p:sp>
        <p:nvSpPr>
          <p:cNvPr id="431" name="Google Shape;431;p26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7"/>
          <p:cNvSpPr/>
          <p:nvPr/>
        </p:nvSpPr>
        <p:spPr>
          <a:xfrm>
            <a:off x="476248" y="2047875"/>
            <a:ext cx="1962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27"/>
          <p:cNvGrpSpPr/>
          <p:nvPr/>
        </p:nvGrpSpPr>
        <p:grpSpPr>
          <a:xfrm>
            <a:off x="457262" y="2047875"/>
            <a:ext cx="2178720" cy="874247"/>
            <a:chOff x="1270158" y="5461000"/>
            <a:chExt cx="5809921" cy="2331326"/>
          </a:xfrm>
        </p:grpSpPr>
        <p:sp>
          <p:nvSpPr>
            <p:cNvPr id="439" name="Google Shape;439;p27"/>
            <p:cNvSpPr/>
            <p:nvPr/>
          </p:nvSpPr>
          <p:spPr>
            <a:xfrm>
              <a:off x="1270159" y="5461000"/>
              <a:ext cx="5620041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30 000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1270158" y="6921500"/>
              <a:ext cx="5809921" cy="870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СТУДЕНТОВ  ИЗ 105 СТРАН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1" name="Google Shape;441;p27"/>
          <p:cNvSpPr/>
          <p:nvPr/>
        </p:nvSpPr>
        <p:spPr>
          <a:xfrm>
            <a:off x="476248" y="3224213"/>
            <a:ext cx="1962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7"/>
          <p:cNvGrpSpPr/>
          <p:nvPr/>
        </p:nvGrpSpPr>
        <p:grpSpPr>
          <a:xfrm>
            <a:off x="457262" y="3224213"/>
            <a:ext cx="2178720" cy="874247"/>
            <a:chOff x="1270158" y="8597900"/>
            <a:chExt cx="5809921" cy="2331326"/>
          </a:xfrm>
        </p:grpSpPr>
        <p:sp>
          <p:nvSpPr>
            <p:cNvPr id="443" name="Google Shape;443;p27"/>
            <p:cNvSpPr/>
            <p:nvPr/>
          </p:nvSpPr>
          <p:spPr>
            <a:xfrm>
              <a:off x="1270159" y="8597900"/>
              <a:ext cx="5620041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D99F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rgbClr val="14D99F"/>
                  </a:solidFill>
                  <a:latin typeface="Arial"/>
                  <a:ea typeface="Arial"/>
                  <a:cs typeface="Arial"/>
                  <a:sym typeface="Arial"/>
                </a:rPr>
                <a:t>30 000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1270158" y="10058400"/>
              <a:ext cx="5809921" cy="870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СТУДЕНТОВ  ИЗ 105 СТРАН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5" name="Google Shape;445;p27"/>
          <p:cNvSpPr/>
          <p:nvPr/>
        </p:nvSpPr>
        <p:spPr>
          <a:xfrm>
            <a:off x="3014647" y="2047875"/>
            <a:ext cx="17763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6" name="Google Shape;446;p27"/>
          <p:cNvGrpSpPr/>
          <p:nvPr/>
        </p:nvGrpSpPr>
        <p:grpSpPr>
          <a:xfrm>
            <a:off x="2672138" y="2047875"/>
            <a:ext cx="2264656" cy="874247"/>
            <a:chOff x="7125701" y="5461000"/>
            <a:chExt cx="6039083" cy="2331326"/>
          </a:xfrm>
        </p:grpSpPr>
        <p:sp>
          <p:nvSpPr>
            <p:cNvPr id="447" name="Google Shape;447;p27"/>
            <p:cNvSpPr/>
            <p:nvPr/>
          </p:nvSpPr>
          <p:spPr>
            <a:xfrm>
              <a:off x="8040105" y="5461000"/>
              <a:ext cx="5124679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7125701" y="6921500"/>
              <a:ext cx="5271158" cy="870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АСПИРАНТОВ  И ДОКТОРАНТОВ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Google Shape;449;p27"/>
          <p:cNvSpPr/>
          <p:nvPr/>
        </p:nvSpPr>
        <p:spPr>
          <a:xfrm>
            <a:off x="3014647" y="3224213"/>
            <a:ext cx="17763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27"/>
          <p:cNvGrpSpPr/>
          <p:nvPr/>
        </p:nvGrpSpPr>
        <p:grpSpPr>
          <a:xfrm>
            <a:off x="2672138" y="3224213"/>
            <a:ext cx="2264656" cy="874247"/>
            <a:chOff x="7125701" y="8597900"/>
            <a:chExt cx="6039083" cy="2331326"/>
          </a:xfrm>
        </p:grpSpPr>
        <p:sp>
          <p:nvSpPr>
            <p:cNvPr id="451" name="Google Shape;451;p27"/>
            <p:cNvSpPr/>
            <p:nvPr/>
          </p:nvSpPr>
          <p:spPr>
            <a:xfrm>
              <a:off x="8040105" y="8597900"/>
              <a:ext cx="5124679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D99F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rgbClr val="14D99F"/>
                  </a:solidFill>
                  <a:latin typeface="Arial"/>
                  <a:ea typeface="Arial"/>
                  <a:cs typeface="Arial"/>
                  <a:sym typeface="Arial"/>
                </a:rPr>
                <a:t>1000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7125701" y="10058400"/>
              <a:ext cx="5271158" cy="870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АСПИРАНТОВ  И ДОКТОРАНТОВ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3" name="Google Shape;453;p27"/>
          <p:cNvSpPr/>
          <p:nvPr/>
        </p:nvSpPr>
        <p:spPr>
          <a:xfrm>
            <a:off x="5052986" y="2047875"/>
            <a:ext cx="19620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4" name="Google Shape;454;p27"/>
          <p:cNvGrpSpPr/>
          <p:nvPr/>
        </p:nvGrpSpPr>
        <p:grpSpPr>
          <a:xfrm>
            <a:off x="5053644" y="2047875"/>
            <a:ext cx="2178720" cy="731372"/>
            <a:chOff x="13476383" y="5461000"/>
            <a:chExt cx="5809921" cy="1950326"/>
          </a:xfrm>
        </p:grpSpPr>
        <p:sp>
          <p:nvSpPr>
            <p:cNvPr id="455" name="Google Shape;455;p27"/>
            <p:cNvSpPr/>
            <p:nvPr/>
          </p:nvSpPr>
          <p:spPr>
            <a:xfrm>
              <a:off x="13476384" y="5461000"/>
              <a:ext cx="5620041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13476383" y="6921500"/>
              <a:ext cx="5809921" cy="489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ПРОФЕССОРОВ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7" name="Google Shape;457;p27"/>
          <p:cNvSpPr/>
          <p:nvPr/>
        </p:nvSpPr>
        <p:spPr>
          <a:xfrm>
            <a:off x="7077038" y="2071688"/>
            <a:ext cx="19620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8" name="Google Shape;458;p27"/>
          <p:cNvGrpSpPr/>
          <p:nvPr/>
        </p:nvGrpSpPr>
        <p:grpSpPr>
          <a:xfrm>
            <a:off x="7077959" y="2071688"/>
            <a:ext cx="2178720" cy="731372"/>
            <a:chOff x="18874558" y="5524500"/>
            <a:chExt cx="5809921" cy="1950326"/>
          </a:xfrm>
        </p:grpSpPr>
        <p:sp>
          <p:nvSpPr>
            <p:cNvPr id="459" name="Google Shape;459;p27"/>
            <p:cNvSpPr/>
            <p:nvPr/>
          </p:nvSpPr>
          <p:spPr>
            <a:xfrm>
              <a:off x="18874559" y="5524500"/>
              <a:ext cx="5620041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18874558" y="6985000"/>
              <a:ext cx="5809921" cy="489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ПРОФЕССОРОВ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1" name="Google Shape;461;p27"/>
          <p:cNvSpPr/>
          <p:nvPr/>
        </p:nvSpPr>
        <p:spPr>
          <a:xfrm>
            <a:off x="5052986" y="3224213"/>
            <a:ext cx="19620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27"/>
          <p:cNvGrpSpPr/>
          <p:nvPr/>
        </p:nvGrpSpPr>
        <p:grpSpPr>
          <a:xfrm>
            <a:off x="5053644" y="3224213"/>
            <a:ext cx="2107516" cy="731372"/>
            <a:chOff x="13476383" y="8597900"/>
            <a:chExt cx="5620042" cy="1950326"/>
          </a:xfrm>
        </p:grpSpPr>
        <p:sp>
          <p:nvSpPr>
            <p:cNvPr id="463" name="Google Shape;463;p27"/>
            <p:cNvSpPr/>
            <p:nvPr/>
          </p:nvSpPr>
          <p:spPr>
            <a:xfrm>
              <a:off x="13476384" y="8597900"/>
              <a:ext cx="5620041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13476383" y="10058400"/>
              <a:ext cx="3075013" cy="489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ПРОФЕССОРОВ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27"/>
          <p:cNvSpPr/>
          <p:nvPr/>
        </p:nvSpPr>
        <p:spPr>
          <a:xfrm>
            <a:off x="7077038" y="3248025"/>
            <a:ext cx="19620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27"/>
          <p:cNvGrpSpPr/>
          <p:nvPr/>
        </p:nvGrpSpPr>
        <p:grpSpPr>
          <a:xfrm>
            <a:off x="7077959" y="3248025"/>
            <a:ext cx="2178720" cy="731372"/>
            <a:chOff x="18874558" y="8661400"/>
            <a:chExt cx="5809921" cy="1950326"/>
          </a:xfrm>
        </p:grpSpPr>
        <p:sp>
          <p:nvSpPr>
            <p:cNvPr id="467" name="Google Shape;467;p27"/>
            <p:cNvSpPr/>
            <p:nvPr/>
          </p:nvSpPr>
          <p:spPr>
            <a:xfrm>
              <a:off x="18874559" y="8661400"/>
              <a:ext cx="5620041" cy="1847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Arial"/>
                <a:buNone/>
              </a:pPr>
              <a:r>
                <a:rPr lang="en-US" sz="3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18874558" y="10121900"/>
              <a:ext cx="5809921" cy="489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ПРОФЕССОРОВ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9" name="Google Shape;469;p27"/>
          <p:cNvCxnSpPr/>
          <p:nvPr/>
        </p:nvCxnSpPr>
        <p:spPr>
          <a:xfrm>
            <a:off x="481010" y="179387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70" name="Google Shape;470;p27"/>
          <p:cNvCxnSpPr/>
          <p:nvPr/>
        </p:nvCxnSpPr>
        <p:spPr>
          <a:xfrm>
            <a:off x="481010" y="1851531"/>
            <a:ext cx="8237400" cy="270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lgDash"/>
            <a:miter lim="8000"/>
            <a:headEnd len="sm" w="sm" type="none"/>
            <a:tailEnd len="sm" w="sm" type="none"/>
          </a:ln>
        </p:spPr>
      </p:cxnSp>
      <p:cxnSp>
        <p:nvCxnSpPr>
          <p:cNvPr id="471" name="Google Shape;471;p27"/>
          <p:cNvCxnSpPr/>
          <p:nvPr/>
        </p:nvCxnSpPr>
        <p:spPr>
          <a:xfrm>
            <a:off x="449581" y="4277763"/>
            <a:ext cx="8237400" cy="270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472" name="Google Shape;472;p27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слайда с инфографикой</a:t>
            </a:r>
            <a:endParaRPr/>
          </a:p>
        </p:txBody>
      </p:sp>
      <p:sp>
        <p:nvSpPr>
          <p:cNvPr id="473" name="Google Shape;473;p27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63000">
              <a:schemeClr val="accent2"/>
            </a:gs>
            <a:gs pos="100000">
              <a:schemeClr val="accent2"/>
            </a:gs>
          </a:gsLst>
          <a:lin ang="599887" scaled="0"/>
        </a:gra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8"/>
          <p:cNvSpPr/>
          <p:nvPr/>
        </p:nvSpPr>
        <p:spPr>
          <a:xfrm>
            <a:off x="476248" y="1652588"/>
            <a:ext cx="3767100" cy="24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373589" y="1652588"/>
            <a:ext cx="3916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4D99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4D99F"/>
                </a:solidFill>
                <a:latin typeface="Arial"/>
                <a:ea typeface="Arial"/>
                <a:cs typeface="Arial"/>
                <a:sym typeface="Arial"/>
              </a:rPr>
              <a:t>КОНСОРЦИУМ ДЛЯ ИССЛЕДОВАНИЯ БЕЗОПАСНОСТИ ТЕХНОЛОГИЙ ИСКУССТВЕННОГО ИНТЕЛЛЕКТА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373589" y="2152650"/>
            <a:ext cx="3811500" cy="1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 октябре 2024 года ННГУ вошёл в Консорциум для исследования безопасности технологий искусственного интеллекта. Планируем открыть программу по ИБ, также просим поддержки в рамках создания в ННГУ Учебно-научного центра по проблемам обеспечения ИБ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 октябре 2024 года ННГУ вошёл в Консорциум для исследования безопасности технологий искусственного интеллекта. Планируем открыть программу по ИБ, также просим поддержки в рамках создания в ННГУ Учебно-научного центра по проблемам обеспечения ИБ 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82" name="Google Shape;4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2914" y="1652588"/>
            <a:ext cx="9525" cy="2452368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8"/>
          <p:cNvSpPr/>
          <p:nvPr/>
        </p:nvSpPr>
        <p:spPr>
          <a:xfrm>
            <a:off x="4619601" y="1652588"/>
            <a:ext cx="3776700" cy="18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4619601" y="1652588"/>
            <a:ext cx="19419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4D99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4D99F"/>
                </a:solidFill>
                <a:latin typeface="Arial"/>
                <a:ea typeface="Arial"/>
                <a:cs typeface="Arial"/>
                <a:sym typeface="Arial"/>
              </a:rPr>
              <a:t>ПЕРСПЕКТИВЫ  БАЛАХНИНСКОГО ФИЛИАЛА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4619601" y="2152650"/>
            <a:ext cx="3949800" cy="14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1" marL="2540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Участие по Всероссийском чемпионатном движении по профессиональному мастерству «Профессионалы» (2024–2025 гг)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Повторное участие в грантовом конкурсе «Профессионалитет». Ранее филиал получил 90 бюджетных мест на 2024–2025 учебный год, 120 мест на 2025–2026 учебный год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4833912" y="3810000"/>
            <a:ext cx="23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8"/>
          <p:cNvSpPr/>
          <p:nvPr/>
        </p:nvSpPr>
        <p:spPr>
          <a:xfrm>
            <a:off x="6300755" y="3817144"/>
            <a:ext cx="4476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8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слайда с текстом</a:t>
            </a:r>
            <a:endParaRPr/>
          </a:p>
        </p:txBody>
      </p:sp>
      <p:sp>
        <p:nvSpPr>
          <p:cNvPr id="489" name="Google Shape;489;p28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4" name="Google Shape;494;p29"/>
          <p:cNvGraphicFramePr/>
          <p:nvPr/>
        </p:nvGraphicFramePr>
        <p:xfrm>
          <a:off x="364029" y="1587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{A196C25B-01C9-48BC-ABF3-DC8B51C3CC33}</a:tableStyleId>
              </a:tblPr>
              <a:tblGrid>
                <a:gridCol w="2826350"/>
                <a:gridCol w="1110775"/>
                <a:gridCol w="1509725"/>
                <a:gridCol w="1556650"/>
                <a:gridCol w="1450825"/>
              </a:tblGrid>
              <a:tr h="476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Показатель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  <a:t>Ед. </a:t>
                      </a:r>
                      <a:b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</a:b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  <a:t>измерения</a:t>
                      </a:r>
                      <a:endParaRPr b="0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  <a:t>Значение плана </a:t>
                      </a:r>
                      <a:b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</a:b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  <a:t>2024</a:t>
                      </a:r>
                      <a:endParaRPr b="0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  <a:t>Значение факта</a:t>
                      </a:r>
                      <a:b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</a:b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  <a:t>на 01.10.2024</a:t>
                      </a:r>
                      <a:endParaRPr b="0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  <a:t>Процент </a:t>
                      </a:r>
                      <a:b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</a:b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</a:rPr>
                        <a:t>выполнения</a:t>
                      </a:r>
                      <a:endParaRPr b="0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4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Численность лиц, завершивших обучение на бесплатной основе (Цифровые кафедры)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Ед.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1783,00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1788,00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100%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31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Численность лиц, завершивших обучение на бесплатной основе (Цифровые кафедры)</a:t>
                      </a:r>
                      <a:endParaRPr sz="500"/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Ед.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1783,00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1788,00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100%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83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</a:rPr>
                        <a:t>Базовая часть</a:t>
                      </a:r>
                      <a:endParaRPr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  <a:tc hMerge="1"/>
                <a:tc hMerge="1"/>
                <a:tc hMerge="1"/>
              </a:tr>
              <a:tr h="631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Доля НПР в возрасте до 39 лет </a:t>
                      </a:r>
                      <a:br>
                        <a:rPr lang="en-US" sz="11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 общей численности НПР</a:t>
                      </a:r>
                      <a:endParaRPr sz="500"/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%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35,50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35,57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chemeClr val="accent6"/>
                          </a:solidFill>
                        </a:rPr>
                        <a:t>100%</a:t>
                      </a:r>
                      <a:endParaRPr sz="11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95" name="Google Shape;495;p29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слайда с таблицей</a:t>
            </a:r>
            <a:endParaRPr/>
          </a:p>
        </p:txBody>
      </p:sp>
      <p:sp>
        <p:nvSpPr>
          <p:cNvPr id="496" name="Google Shape;496;p29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0"/>
          <p:cNvSpPr/>
          <p:nvPr/>
        </p:nvSpPr>
        <p:spPr>
          <a:xfrm>
            <a:off x="2378063" y="2333625"/>
            <a:ext cx="352500" cy="20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0"/>
          <p:cNvSpPr/>
          <p:nvPr/>
        </p:nvSpPr>
        <p:spPr>
          <a:xfrm>
            <a:off x="3441681" y="2066925"/>
            <a:ext cx="5619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"/>
          <p:cNvSpPr/>
          <p:nvPr/>
        </p:nvSpPr>
        <p:spPr>
          <a:xfrm>
            <a:off x="4714851" y="1900238"/>
            <a:ext cx="561900" cy="24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014" y="1771650"/>
            <a:ext cx="6464400" cy="2960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6" name="Google Shape;506;p30"/>
          <p:cNvGrpSpPr/>
          <p:nvPr/>
        </p:nvGrpSpPr>
        <p:grpSpPr>
          <a:xfrm>
            <a:off x="7185839" y="1940072"/>
            <a:ext cx="1068807" cy="206375"/>
            <a:chOff x="5093337" y="11772900"/>
            <a:chExt cx="2850152" cy="550333"/>
          </a:xfrm>
        </p:grpSpPr>
        <p:sp>
          <p:nvSpPr>
            <p:cNvPr id="507" name="Google Shape;507;p30"/>
            <p:cNvSpPr/>
            <p:nvPr/>
          </p:nvSpPr>
          <p:spPr>
            <a:xfrm>
              <a:off x="5093337" y="11877477"/>
              <a:ext cx="222660" cy="222633"/>
            </a:xfrm>
            <a:prstGeom prst="ellipse">
              <a:avLst/>
            </a:prstGeom>
            <a:solidFill>
              <a:srgbClr val="BFDAF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0"/>
            <p:cNvSpPr/>
            <p:nvPr/>
          </p:nvSpPr>
          <p:spPr>
            <a:xfrm>
              <a:off x="5538655" y="11772900"/>
              <a:ext cx="2404834" cy="550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Показатель 1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p30"/>
          <p:cNvGrpSpPr/>
          <p:nvPr/>
        </p:nvGrpSpPr>
        <p:grpSpPr>
          <a:xfrm>
            <a:off x="7184443" y="2290722"/>
            <a:ext cx="1068807" cy="206375"/>
            <a:chOff x="5093337" y="11772900"/>
            <a:chExt cx="2850152" cy="550333"/>
          </a:xfrm>
        </p:grpSpPr>
        <p:sp>
          <p:nvSpPr>
            <p:cNvPr id="510" name="Google Shape;510;p30"/>
            <p:cNvSpPr/>
            <p:nvPr/>
          </p:nvSpPr>
          <p:spPr>
            <a:xfrm>
              <a:off x="5093337" y="11877477"/>
              <a:ext cx="222660" cy="22263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5538655" y="11772900"/>
              <a:ext cx="2404834" cy="550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Показатель 2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" name="Google Shape;512;p30"/>
          <p:cNvGrpSpPr/>
          <p:nvPr/>
        </p:nvGrpSpPr>
        <p:grpSpPr>
          <a:xfrm>
            <a:off x="7185839" y="2641372"/>
            <a:ext cx="1068807" cy="206375"/>
            <a:chOff x="5093337" y="11772900"/>
            <a:chExt cx="2850152" cy="550333"/>
          </a:xfrm>
        </p:grpSpPr>
        <p:sp>
          <p:nvSpPr>
            <p:cNvPr id="513" name="Google Shape;513;p30"/>
            <p:cNvSpPr/>
            <p:nvPr/>
          </p:nvSpPr>
          <p:spPr>
            <a:xfrm>
              <a:off x="5093337" y="11877477"/>
              <a:ext cx="222660" cy="22263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5538655" y="11772900"/>
              <a:ext cx="2404834" cy="550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Показатель 3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5" name="Google Shape;515;p30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слайда с диаграммой</a:t>
            </a:r>
            <a:endParaRPr/>
          </a:p>
        </p:txBody>
      </p:sp>
      <p:sp>
        <p:nvSpPr>
          <p:cNvPr id="516" name="Google Shape;516;p30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"/>
          <p:cNvSpPr/>
          <p:nvPr/>
        </p:nvSpPr>
        <p:spPr>
          <a:xfrm>
            <a:off x="2378063" y="2333625"/>
            <a:ext cx="352500" cy="20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1"/>
          <p:cNvSpPr/>
          <p:nvPr/>
        </p:nvSpPr>
        <p:spPr>
          <a:xfrm>
            <a:off x="3441681" y="2066925"/>
            <a:ext cx="5619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1"/>
          <p:cNvSpPr/>
          <p:nvPr/>
        </p:nvSpPr>
        <p:spPr>
          <a:xfrm>
            <a:off x="4714851" y="1900238"/>
            <a:ext cx="561900" cy="24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5" name="Google Shape;52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604" y="1755193"/>
            <a:ext cx="6096000" cy="312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" name="Google Shape;526;p31"/>
          <p:cNvGrpSpPr/>
          <p:nvPr/>
        </p:nvGrpSpPr>
        <p:grpSpPr>
          <a:xfrm>
            <a:off x="7195554" y="1960684"/>
            <a:ext cx="1068807" cy="206375"/>
            <a:chOff x="5093337" y="11772900"/>
            <a:chExt cx="2850152" cy="550333"/>
          </a:xfrm>
        </p:grpSpPr>
        <p:sp>
          <p:nvSpPr>
            <p:cNvPr id="527" name="Google Shape;527;p31"/>
            <p:cNvSpPr/>
            <p:nvPr/>
          </p:nvSpPr>
          <p:spPr>
            <a:xfrm>
              <a:off x="5093337" y="11877477"/>
              <a:ext cx="222660" cy="222633"/>
            </a:xfrm>
            <a:prstGeom prst="ellipse">
              <a:avLst/>
            </a:prstGeom>
            <a:solidFill>
              <a:srgbClr val="BFDAF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5538655" y="11772900"/>
              <a:ext cx="2404834" cy="550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Показатель 1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9" name="Google Shape;529;p31"/>
          <p:cNvGrpSpPr/>
          <p:nvPr/>
        </p:nvGrpSpPr>
        <p:grpSpPr>
          <a:xfrm>
            <a:off x="7194158" y="2311334"/>
            <a:ext cx="1068807" cy="206375"/>
            <a:chOff x="5093337" y="11772900"/>
            <a:chExt cx="2850152" cy="550333"/>
          </a:xfrm>
        </p:grpSpPr>
        <p:sp>
          <p:nvSpPr>
            <p:cNvPr id="530" name="Google Shape;530;p31"/>
            <p:cNvSpPr/>
            <p:nvPr/>
          </p:nvSpPr>
          <p:spPr>
            <a:xfrm>
              <a:off x="5093337" y="11877477"/>
              <a:ext cx="222660" cy="22263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5538655" y="11772900"/>
              <a:ext cx="2404834" cy="550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Показатель 2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31"/>
          <p:cNvGrpSpPr/>
          <p:nvPr/>
        </p:nvGrpSpPr>
        <p:grpSpPr>
          <a:xfrm>
            <a:off x="7195554" y="2661984"/>
            <a:ext cx="1068807" cy="206375"/>
            <a:chOff x="5093337" y="11772900"/>
            <a:chExt cx="2850152" cy="550333"/>
          </a:xfrm>
        </p:grpSpPr>
        <p:sp>
          <p:nvSpPr>
            <p:cNvPr id="533" name="Google Shape;533;p31"/>
            <p:cNvSpPr/>
            <p:nvPr/>
          </p:nvSpPr>
          <p:spPr>
            <a:xfrm>
              <a:off x="5093337" y="11877477"/>
              <a:ext cx="222660" cy="22263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5538655" y="11772900"/>
              <a:ext cx="2404834" cy="5503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Показатель 3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" name="Google Shape;535;p31"/>
          <p:cNvSpPr txBox="1"/>
          <p:nvPr>
            <p:ph idx="4294967295"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слайда с диаграммой</a:t>
            </a:r>
            <a:endParaRPr/>
          </a:p>
        </p:txBody>
      </p:sp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42" name="Google Shape;5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9700" y="1586237"/>
            <a:ext cx="3587901" cy="2359287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2"/>
          <p:cNvSpPr/>
          <p:nvPr/>
        </p:nvSpPr>
        <p:spPr>
          <a:xfrm>
            <a:off x="4619601" y="4029075"/>
            <a:ext cx="1285800" cy="566700"/>
          </a:xfrm>
          <a:prstGeom prst="roundRect">
            <a:avLst>
              <a:gd fmla="val 16941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2"/>
          <p:cNvSpPr/>
          <p:nvPr/>
        </p:nvSpPr>
        <p:spPr>
          <a:xfrm>
            <a:off x="4910112" y="4088569"/>
            <a:ext cx="70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545" name="Google Shape;54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0112" y="4088569"/>
            <a:ext cx="704846" cy="447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6" name="Google Shape;54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98218" y="4281897"/>
            <a:ext cx="68063" cy="106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7" name="Google Shape;54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73418" y="4281971"/>
            <a:ext cx="67831" cy="74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8" name="Google Shape;548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3210" y="4281395"/>
            <a:ext cx="67605" cy="7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9" name="Google Shape;549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56170" y="4251164"/>
            <a:ext cx="70388" cy="104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0" name="Google Shape;550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40055" y="4281580"/>
            <a:ext cx="75790" cy="74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1" name="Google Shape;551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22873" y="4281580"/>
            <a:ext cx="75725" cy="74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2" name="Google Shape;552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10184" y="4283460"/>
            <a:ext cx="44127" cy="70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3" name="Google Shape;553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59729" y="4281506"/>
            <a:ext cx="54094" cy="74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4" name="Google Shape;554;p3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99100" y="4372180"/>
            <a:ext cx="332818" cy="1619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5" name="Google Shape;555;p3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000719" y="4029075"/>
            <a:ext cx="1285868" cy="5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6" name="Google Shape;556;p3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71421" y="4138278"/>
            <a:ext cx="633842" cy="102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7" name="Google Shape;557;p3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569825" y="4262847"/>
            <a:ext cx="386440" cy="81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8" name="Google Shape;558;p3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565244" y="4394448"/>
            <a:ext cx="614922" cy="95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9" name="Google Shape;559;p3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087173" y="4110875"/>
            <a:ext cx="394411" cy="383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0" name="Google Shape;560;p3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172628" y="4137664"/>
            <a:ext cx="222702" cy="348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1" name="Google Shape;561;p3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125222" y="4133869"/>
            <a:ext cx="153580" cy="3441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2" name="Google Shape;562;p3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289955" y="4135078"/>
            <a:ext cx="153381" cy="344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3" name="Google Shape;563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096136" y="4125274"/>
            <a:ext cx="180472" cy="21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4" name="Google Shape;564;p3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291551" y="4125274"/>
            <a:ext cx="180472" cy="21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5" name="Google Shape;565;p3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381837" y="4029075"/>
            <a:ext cx="1285868" cy="5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6" name="Google Shape;566;p3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76248" y="1323975"/>
            <a:ext cx="4048104" cy="3261888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/>
          <p:nvPr/>
        </p:nvSpPr>
        <p:spPr>
          <a:xfrm>
            <a:off x="571497" y="1323975"/>
            <a:ext cx="3810000" cy="31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2"/>
          <p:cNvSpPr/>
          <p:nvPr/>
        </p:nvSpPr>
        <p:spPr>
          <a:xfrm>
            <a:off x="457200" y="1681125"/>
            <a:ext cx="3860700" cy="28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1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Евразийская олимпиада — олимпиада ЕСУ</a:t>
            </a:r>
            <a:endParaRPr b="0" i="0" sz="12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Международная олимпиада «Open Doors»</a:t>
            </a:r>
            <a:endParaRPr b="0" i="0" sz="12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Международная олимпиада по русскому языку как иностранному «Лобачевский/RU» (1750 участников из 94 стран)</a:t>
            </a:r>
            <a:endParaRPr b="0" i="0" sz="12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Международная олимпиада школьников «Будущие исследователи — будущее науки»</a:t>
            </a:r>
            <a:endParaRPr b="0" i="0" sz="12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Международная олимпиада по финансовой безопасности в рамках Международной сетевого института в сфере ПОД/ФТ (ННГУ-координатор по ПФО)</a:t>
            </a:r>
            <a:endParaRPr b="0" i="0" sz="12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НИС-олимпиада (Сербия), около 3500 участников из Сербии, Боснии и Герцеговины, Северной Македонии, Болгарии и Черногории; ННГУ является единственным российским вузом-организатором</a:t>
            </a:r>
            <a:endParaRPr b="0" i="0" sz="12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2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слайда с фотографией</a:t>
            </a:r>
            <a:endParaRPr/>
          </a:p>
        </p:txBody>
      </p:sp>
      <p:sp>
        <p:nvSpPr>
          <p:cNvPr id="570" name="Google Shape;570;p32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76" name="Google Shape;57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73" y="1711150"/>
            <a:ext cx="4048104" cy="27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3"/>
          <p:cNvSpPr/>
          <p:nvPr/>
        </p:nvSpPr>
        <p:spPr>
          <a:xfrm>
            <a:off x="571522" y="1711150"/>
            <a:ext cx="3848100" cy="24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3"/>
          <p:cNvSpPr/>
          <p:nvPr/>
        </p:nvSpPr>
        <p:spPr>
          <a:xfrm>
            <a:off x="485808" y="1711150"/>
            <a:ext cx="39054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Участие университета в организации мероприятий в рамках председательства </a:t>
            </a:r>
            <a:r>
              <a:rPr lang="en-US" sz="1300">
                <a:solidFill>
                  <a:schemeClr val="accent6"/>
                </a:solidFill>
              </a:rPr>
              <a:t>России</a:t>
            </a:r>
            <a:r>
              <a:rPr b="0" i="0" lang="en-US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в БРИКС (перевод, волонтёры, протокол, работа с гостями)</a:t>
            </a:r>
            <a:endParaRPr b="0" i="0" sz="13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3"/>
          <p:cNvSpPr/>
          <p:nvPr/>
        </p:nvSpPr>
        <p:spPr>
          <a:xfrm>
            <a:off x="485808" y="2668413"/>
            <a:ext cx="39054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Международный форум по финансовой безопасности</a:t>
            </a:r>
            <a:endParaRPr b="0" i="0" sz="13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3"/>
          <p:cNvSpPr/>
          <p:nvPr/>
        </p:nvSpPr>
        <p:spPr>
          <a:xfrm>
            <a:off x="485808" y="3206575"/>
            <a:ext cx="3905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Форум породнённых городов и муниципальных образований стран БРИКС</a:t>
            </a:r>
            <a:endParaRPr b="0" i="0" sz="13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3"/>
          <p:cNvSpPr/>
          <p:nvPr/>
        </p:nvSpPr>
        <p:spPr>
          <a:xfrm>
            <a:off x="485783" y="3569083"/>
            <a:ext cx="390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1" marL="2540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Заседание рабочей группы БРИКС по ИКТ</a:t>
            </a:r>
            <a:endParaRPr b="0" i="0" sz="13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82" name="Google Shape;58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4388" y="1687338"/>
            <a:ext cx="1976427" cy="1333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83" name="Google Shape;58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91302" y="1687338"/>
            <a:ext cx="1976427" cy="1333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84" name="Google Shape;58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4388" y="3116088"/>
            <a:ext cx="1976427" cy="1333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85" name="Google Shape;58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91302" y="3116088"/>
            <a:ext cx="1976427" cy="1333326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3"/>
          <p:cNvSpPr txBox="1"/>
          <p:nvPr>
            <p:ph type="title"/>
          </p:nvPr>
        </p:nvSpPr>
        <p:spPr>
          <a:xfrm>
            <a:off x="297946" y="923965"/>
            <a:ext cx="8234400" cy="5787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слайда с фотографией</a:t>
            </a:r>
            <a:endParaRPr/>
          </a:p>
        </p:txBody>
      </p:sp>
      <p:sp>
        <p:nvSpPr>
          <p:cNvPr id="587" name="Google Shape;587;p33"/>
          <p:cNvSpPr txBox="1"/>
          <p:nvPr>
            <p:ph idx="12" type="sldNum"/>
          </p:nvPr>
        </p:nvSpPr>
        <p:spPr>
          <a:xfrm>
            <a:off x="6457950" y="4767263"/>
            <a:ext cx="2231400" cy="273900"/>
          </a:xfrm>
          <a:prstGeom prst="rect">
            <a:avLst/>
          </a:prstGeom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4"/>
          <p:cNvSpPr txBox="1"/>
          <p:nvPr/>
        </p:nvSpPr>
        <p:spPr>
          <a:xfrm>
            <a:off x="0" y="2167341"/>
            <a:ext cx="91440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lt1"/>
                </a:solidFill>
              </a:rPr>
              <a:t>Спасибо за внимание!</a:t>
            </a:r>
            <a:endParaRPr b="1" sz="3300">
              <a:solidFill>
                <a:schemeClr val="lt1"/>
              </a:solidFill>
            </a:endParaRPr>
          </a:p>
        </p:txBody>
      </p:sp>
      <p:sp>
        <p:nvSpPr>
          <p:cNvPr id="593" name="Google Shape;593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17125" lIns="34275" spcFirstLastPara="1" rIns="34275" wrap="square" tIns="17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Макет светлая тема">
  <a:themeElements>
    <a:clrScheme name="Университет_юбиленый шаблон">
      <a:dk1>
        <a:srgbClr val="00348A"/>
      </a:dk1>
      <a:lt1>
        <a:srgbClr val="FFFFFF"/>
      </a:lt1>
      <a:dk2>
        <a:srgbClr val="404040"/>
      </a:dk2>
      <a:lt2>
        <a:srgbClr val="FFFFFF"/>
      </a:lt2>
      <a:accent1>
        <a:srgbClr val="14D49F"/>
      </a:accent1>
      <a:accent2>
        <a:srgbClr val="1E52A8"/>
      </a:accent2>
      <a:accent3>
        <a:srgbClr val="FF9B71"/>
      </a:accent3>
      <a:accent4>
        <a:srgbClr val="E2EEFF"/>
      </a:accent4>
      <a:accent5>
        <a:srgbClr val="F1F7FF"/>
      </a:accent5>
      <a:accent6>
        <a:srgbClr val="404040"/>
      </a:accent6>
      <a:hlink>
        <a:srgbClr val="00348A"/>
      </a:hlink>
      <a:folHlink>
        <a:srgbClr val="FF9B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